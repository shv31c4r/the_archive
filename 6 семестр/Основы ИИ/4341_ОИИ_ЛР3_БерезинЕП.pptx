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Bricolage Grotesque ExtraBold" panose="020B0604020202020204" charset="0"/>
      <p:regular r:id="rId17"/>
    </p:embeddedFont>
    <p:embeddedFont>
      <p:font typeface="Bricolage Grotesque Light" panose="020B0605040402000204" pitchFamily="34" charset="0"/>
      <p:regular r:id="rId18"/>
    </p:embeddedFont>
    <p:embeddedFont>
      <p:font typeface="Montserrat" pitchFamily="2" charset="-52"/>
      <p:regular r:id="rId19"/>
      <p:bold r:id="rId20"/>
      <p:italic r:id="rId21"/>
      <p:boldItalic r:id="rId22"/>
    </p:embeddedFont>
    <p:embeddedFont>
      <p:font typeface="Century Gothic" panose="020B0502020202020204" pitchFamily="34" charset="0"/>
      <p:regular r:id="rId23"/>
      <p:bold r:id="rId24"/>
      <p:italic r:id="rId25"/>
      <p:boldItalic r:id="rId2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E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343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-3-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-3-5.svg"/><Relationship Id="rId5" Type="http://schemas.openxmlformats.org/officeDocument/2006/relationships/image" Target="../media/image-3-3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-4-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-4-5.svg"/><Relationship Id="rId11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-4-2.sv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94383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Распознавание пород собак с помощью нейросети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162069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 err="1" smtClean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Студент</a:t>
            </a:r>
            <a:r>
              <a:rPr lang="en-US" sz="1100" dirty="0" smtClean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10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гр. 4341, Березин Егор</a:t>
            </a:r>
            <a:endParaRPr lang="en-US" sz="11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027801" y="4824248"/>
            <a:ext cx="1059443" cy="258555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01427"/>
            <a:ext cx="481630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Цель и задание работы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357015"/>
            <a:ext cx="2290465" cy="3084984"/>
          </a:xfrm>
          <a:prstGeom prst="roundRect">
            <a:avLst>
              <a:gd name="adj" fmla="val 2600"/>
            </a:avLst>
          </a:prstGeom>
          <a:solidFill>
            <a:srgbClr val="282D5E"/>
          </a:solidFill>
          <a:ln/>
        </p:spPr>
      </p:sp>
      <p:sp>
        <p:nvSpPr>
          <p:cNvPr id="5" name="Text 2"/>
          <p:cNvSpPr/>
          <p:nvPr/>
        </p:nvSpPr>
        <p:spPr>
          <a:xfrm>
            <a:off x="637877" y="14987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Цель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1805285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Реализовать систему, определяющую породу собаки по фотографии.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357015"/>
            <a:ext cx="2290539" cy="3084984"/>
          </a:xfrm>
          <a:prstGeom prst="roundRect">
            <a:avLst>
              <a:gd name="adj" fmla="val 2599"/>
            </a:avLst>
          </a:prstGeom>
          <a:solidFill>
            <a:srgbClr val="282D5E"/>
          </a:solidFill>
          <a:ln/>
        </p:spPr>
      </p:sp>
      <p:sp>
        <p:nvSpPr>
          <p:cNvPr id="8" name="Text 5"/>
          <p:cNvSpPr/>
          <p:nvPr/>
        </p:nvSpPr>
        <p:spPr>
          <a:xfrm>
            <a:off x="3070101" y="14987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Задание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0101" y="1805285"/>
            <a:ext cx="2007022" cy="2494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Разработать программную систему, которая по фотографии определит породу собаки, используя обученную модель компьютерного зрения. Система должна выдавать три варианта пород по убыванию уверенности и информацию о наиболее вероятной породе.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9" y="612577"/>
            <a:ext cx="4681240" cy="24759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8379" y="3213720"/>
            <a:ext cx="5658594" cy="18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950" dirty="0"/>
          </a:p>
        </p:txBody>
      </p:sp>
      <p:sp>
        <p:nvSpPr>
          <p:cNvPr id="4" name="Shape 1"/>
          <p:cNvSpPr/>
          <p:nvPr/>
        </p:nvSpPr>
        <p:spPr>
          <a:xfrm>
            <a:off x="6000973" y="571500"/>
            <a:ext cx="979438" cy="226814"/>
          </a:xfrm>
          <a:prstGeom prst="roundRect">
            <a:avLst>
              <a:gd name="adj" fmla="val 18606"/>
            </a:avLst>
          </a:prstGeom>
          <a:solidFill>
            <a:srgbClr val="3E0845"/>
          </a:solidFill>
          <a:ln/>
        </p:spPr>
      </p:sp>
      <p:sp>
        <p:nvSpPr>
          <p:cNvPr id="5" name="Text 2"/>
          <p:cNvSpPr/>
          <p:nvPr/>
        </p:nvSpPr>
        <p:spPr>
          <a:xfrm>
            <a:off x="6076280" y="609154"/>
            <a:ext cx="1286024" cy="151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ЦЕЛЬ ПРОЕКТА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000973" y="842814"/>
            <a:ext cx="2659335" cy="443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Что было создано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6000973" y="1368698"/>
            <a:ext cx="2707899" cy="2075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Система распознавания пород собак на основе сверточной нейросети </a:t>
            </a:r>
            <a:r>
              <a:rPr lang="en-US" sz="950" b="1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MobileNetV2</a:t>
            </a:r>
            <a:r>
              <a:rPr lang="en-US" sz="95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, обученной на </a:t>
            </a:r>
            <a:r>
              <a:rPr lang="en-US" sz="950" b="1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Stanford Dogs Dataset</a:t>
            </a:r>
            <a:r>
              <a:rPr lang="en-US" sz="95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 (20 580 фотографий, 120 пород). Система анализирует фотографию и выдает три наиболее вероятные породы с процентом уверенности, а также информацию о топ-1 варианте.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35484" y="3673339"/>
            <a:ext cx="188342" cy="1883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466" y="3669506"/>
            <a:ext cx="2221557" cy="392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Детекция и классификация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96465" y="3943248"/>
            <a:ext cx="2221557" cy="568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Распознавание породы на основе оптических изображений с высокой точностью.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304208" y="3673339"/>
            <a:ext cx="188342" cy="1883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65190" y="3669506"/>
            <a:ext cx="1584796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Глубокое обучение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665190" y="3932486"/>
            <a:ext cx="2221632" cy="568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Применение методов deep learning для извлечения визуальных признаков.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073006" y="3673339"/>
            <a:ext cx="188342" cy="18834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33989" y="3669506"/>
            <a:ext cx="1642690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Масштабируемость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433989" y="3932486"/>
            <a:ext cx="2221632" cy="568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Архитектура, пригодная для расширения на новые породы и виды животных.</a:t>
            </a:r>
            <a:endParaRPr lang="en-US" sz="95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8027801" y="4824248"/>
            <a:ext cx="1059443" cy="258555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3280" y="3673339"/>
            <a:ext cx="209269" cy="188342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542" y="3669506"/>
            <a:ext cx="209269" cy="188342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940" y="3669506"/>
            <a:ext cx="209269" cy="1883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28452"/>
            <a:ext cx="1753046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875705"/>
            <a:ext cx="203061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EAEF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ТЕХНОЛОГИЧЕСКИЙ СТЕК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61083"/>
            <a:ext cx="529084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Инструменты разработки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6119" y="1816671"/>
            <a:ext cx="283518" cy="283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2773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Python 3.11.9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583879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Язык программирования.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816671"/>
            <a:ext cx="283518" cy="283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0553" y="22773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TensorFlow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660553" y="2583879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Фреймворк глубокого обучения.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96119" y="3094211"/>
            <a:ext cx="283518" cy="283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6119" y="35549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MobileNetV2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96119" y="3861420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Предобученная модель для классификации изображений.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660553" y="3094211"/>
            <a:ext cx="283518" cy="28351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60553" y="3554909"/>
            <a:ext cx="19809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Stanford Dogs Dataset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660553" y="3861420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20 580 фотографий собак, 120 пород.</a:t>
            </a:r>
            <a:endParaRPr lang="en-US" sz="110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8027801" y="4824248"/>
            <a:ext cx="1059443" cy="258555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056" y="1807542"/>
            <a:ext cx="319643" cy="31337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6428" y="1807542"/>
            <a:ext cx="347643" cy="32189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2464" y="3068599"/>
            <a:ext cx="414442" cy="334742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486" y="3094211"/>
            <a:ext cx="382782" cy="3177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8711"/>
            <a:ext cx="1122164" cy="266402"/>
          </a:xfrm>
          <a:prstGeom prst="roundRect">
            <a:avLst>
              <a:gd name="adj" fmla="val 17880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41201"/>
            <a:ext cx="140925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МЕТОДОЛОГИЯ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2181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Этапы разработки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47" y="1187195"/>
            <a:ext cx="7339831" cy="27542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18237" y="2844666"/>
            <a:ext cx="1335655" cy="213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Реализация</a:t>
            </a:r>
            <a:endParaRPr lang="en-US" sz="1300" b="1" dirty="0"/>
          </a:p>
        </p:txBody>
      </p:sp>
      <p:sp>
        <p:nvSpPr>
          <p:cNvPr id="7" name="Text 4"/>
          <p:cNvSpPr/>
          <p:nvPr/>
        </p:nvSpPr>
        <p:spPr>
          <a:xfrm>
            <a:off x="6824955" y="3337566"/>
            <a:ext cx="1107055" cy="51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Вывод топ-3 пород и информации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37346" y="2842454"/>
            <a:ext cx="1107055" cy="426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Обучение нейросети</a:t>
            </a:r>
            <a:endParaRPr lang="en-US" sz="1300" b="1" dirty="0"/>
          </a:p>
        </p:txBody>
      </p:sp>
      <p:sp>
        <p:nvSpPr>
          <p:cNvPr id="9" name="Text 6"/>
          <p:cNvSpPr/>
          <p:nvPr/>
        </p:nvSpPr>
        <p:spPr>
          <a:xfrm>
            <a:off x="5437345" y="3329455"/>
            <a:ext cx="1107055" cy="51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20 эпох на найденном наборе данных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018434" y="2844666"/>
            <a:ext cx="1107055" cy="426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Подготовка данных</a:t>
            </a:r>
            <a:endParaRPr lang="en-US" sz="1300" b="1" dirty="0"/>
          </a:p>
        </p:txBody>
      </p:sp>
      <p:sp>
        <p:nvSpPr>
          <p:cNvPr id="11" name="Text 8"/>
          <p:cNvSpPr/>
          <p:nvPr/>
        </p:nvSpPr>
        <p:spPr>
          <a:xfrm>
            <a:off x="3890930" y="3334412"/>
            <a:ext cx="1265862" cy="682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Разделение на 80% обучение и 20% проверка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662127" y="2843442"/>
            <a:ext cx="1085325" cy="244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Выбор модели</a:t>
            </a:r>
            <a:endParaRPr lang="en-US" sz="1300" b="1" dirty="0"/>
          </a:p>
        </p:txBody>
      </p:sp>
      <p:sp>
        <p:nvSpPr>
          <p:cNvPr id="13" name="Text 10"/>
          <p:cNvSpPr/>
          <p:nvPr/>
        </p:nvSpPr>
        <p:spPr>
          <a:xfrm>
            <a:off x="2646452" y="3329455"/>
            <a:ext cx="1107055" cy="85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MobileNetV2 — быстрая на CPU, предобучена на животных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244187" y="2843442"/>
            <a:ext cx="1107054" cy="274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Сбор данных</a:t>
            </a:r>
            <a:endParaRPr lang="en-US" sz="1300" b="1" dirty="0"/>
          </a:p>
        </p:txBody>
      </p:sp>
      <p:sp>
        <p:nvSpPr>
          <p:cNvPr id="15" name="Text 12"/>
          <p:cNvSpPr/>
          <p:nvPr/>
        </p:nvSpPr>
        <p:spPr>
          <a:xfrm>
            <a:off x="1244187" y="3329455"/>
            <a:ext cx="1107054" cy="682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Stanford Dogs Dataset: 20 580 фотографий и 120 пород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96119" y="444109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Каждый этап напрямую влияет на итоговую точность модели: от качества исходного набора данных и выбора архитектуры до корректного обучения и удобного вывода результатов.</a:t>
            </a:r>
            <a:endParaRPr lang="en-US" sz="110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8027801" y="4824248"/>
            <a:ext cx="1059443" cy="258555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3479"/>
            <a:ext cx="4896073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Схема работы нейросети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30201"/>
            <a:ext cx="8151763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Ниже показан основной процесс обработки изображения: от входного фото собаки до выдачи метки породы с вероятностью.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96119" y="1694259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6119" y="1904033"/>
            <a:ext cx="4011885" cy="1905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009403"/>
            <a:ext cx="1988567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Входное изображение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6119" y="2296492"/>
            <a:ext cx="4011885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Фото собаки.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35922" y="1694259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5922" y="1904033"/>
            <a:ext cx="4011960" cy="1905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0" name="Text 8"/>
          <p:cNvSpPr/>
          <p:nvPr/>
        </p:nvSpPr>
        <p:spPr>
          <a:xfrm>
            <a:off x="4635922" y="2009403"/>
            <a:ext cx="2557314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Предварительная обработка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35922" y="2296492"/>
            <a:ext cx="4011960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Изменение размера, нормализация.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6119" y="2735461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6119" y="2945234"/>
            <a:ext cx="4011885" cy="1905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050604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Свёрточные слои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6119" y="3337694"/>
            <a:ext cx="4011885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Выделение признаков.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35922" y="2735461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35922" y="2945234"/>
            <a:ext cx="4011960" cy="1905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8" name="Text 16"/>
          <p:cNvSpPr/>
          <p:nvPr/>
        </p:nvSpPr>
        <p:spPr>
          <a:xfrm>
            <a:off x="4635922" y="3050604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Слои пулинга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35922" y="3337694"/>
            <a:ext cx="4011960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Снижение размерности.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6119" y="3776663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6119" y="3986436"/>
            <a:ext cx="4011885" cy="1905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22" name="Text 20"/>
          <p:cNvSpPr/>
          <p:nvPr/>
        </p:nvSpPr>
        <p:spPr>
          <a:xfrm>
            <a:off x="496119" y="4091806"/>
            <a:ext cx="1750888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Полносвязные слои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6119" y="4378896"/>
            <a:ext cx="4011885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Классификация.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35922" y="3776663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35922" y="3986436"/>
            <a:ext cx="4011960" cy="1905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26" name="Text 24"/>
          <p:cNvSpPr/>
          <p:nvPr/>
        </p:nvSpPr>
        <p:spPr>
          <a:xfrm>
            <a:off x="4635922" y="4091806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Выход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35922" y="4378896"/>
            <a:ext cx="4011960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Метка породы с уверенностью в ответе.</a:t>
            </a:r>
            <a:endParaRPr lang="en-US" sz="1050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8027801" y="4824248"/>
            <a:ext cx="1059443" cy="258555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1656" y="513978"/>
            <a:ext cx="527208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Графики обучения модели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69566"/>
            <a:ext cx="8151763" cy="3459882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8027801" y="4824248"/>
            <a:ext cx="1059443" cy="258555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84374"/>
            <a:ext cx="2260029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631627"/>
            <a:ext cx="253759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EAEF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АНАЛИЗ ПРОИЗВОДИТЕЛЬНОСТИ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17004"/>
            <a:ext cx="2628230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Анализ ошибок классификации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96119" y="1767483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Разбор ошибок классификации позволяет точно определить направления для улучшения архитектуры и данных.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988" y="707380"/>
            <a:ext cx="5177582" cy="181242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6119" y="2961754"/>
            <a:ext cx="2622724" cy="1756842"/>
          </a:xfrm>
          <a:prstGeom prst="roundRect">
            <a:avLst>
              <a:gd name="adj" fmla="val 5205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7069" y="2961754"/>
            <a:ext cx="76200" cy="1756842"/>
          </a:xfrm>
          <a:prstGeom prst="roundRect">
            <a:avLst>
              <a:gd name="adj" fmla="val 78140"/>
            </a:avLst>
          </a:prstGeom>
          <a:solidFill>
            <a:srgbClr val="EEAEF6"/>
          </a:solidFill>
          <a:ln/>
        </p:spPr>
      </p:sp>
      <p:sp>
        <p:nvSpPr>
          <p:cNvPr id="9" name="Text 6"/>
          <p:cNvSpPr/>
          <p:nvPr/>
        </p:nvSpPr>
        <p:spPr>
          <a:xfrm>
            <a:off x="714077" y="3122563"/>
            <a:ext cx="219275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Качество изображений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4077" y="3429074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Низкое разрешение и плохое освещение снижают точность.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60601" y="2961754"/>
            <a:ext cx="2622724" cy="1756842"/>
          </a:xfrm>
          <a:prstGeom prst="roundRect">
            <a:avLst>
              <a:gd name="adj" fmla="val 5205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1551" y="2961754"/>
            <a:ext cx="76200" cy="1756842"/>
          </a:xfrm>
          <a:prstGeom prst="roundRect">
            <a:avLst>
              <a:gd name="adj" fmla="val 78140"/>
            </a:avLst>
          </a:prstGeom>
          <a:solidFill>
            <a:srgbClr val="EEAEF6"/>
          </a:solidFill>
          <a:ln/>
        </p:spPr>
      </p:sp>
      <p:sp>
        <p:nvSpPr>
          <p:cNvPr id="13" name="Text 10"/>
          <p:cNvSpPr/>
          <p:nvPr/>
        </p:nvSpPr>
        <p:spPr>
          <a:xfrm>
            <a:off x="3478560" y="3122563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Визуально похожие породы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478560" y="3650531"/>
            <a:ext cx="224395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Хаски часто путается с эскимосской собакой, немецкая овчарка — с малинуа.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25083" y="2961754"/>
            <a:ext cx="2622724" cy="1756842"/>
          </a:xfrm>
          <a:prstGeom prst="roundRect">
            <a:avLst>
              <a:gd name="adj" fmla="val 5205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06033" y="2961754"/>
            <a:ext cx="76200" cy="1756842"/>
          </a:xfrm>
          <a:prstGeom prst="roundRect">
            <a:avLst>
              <a:gd name="adj" fmla="val 78140"/>
            </a:avLst>
          </a:prstGeom>
          <a:solidFill>
            <a:srgbClr val="EEAEF6"/>
          </a:solidFill>
          <a:ln/>
        </p:spPr>
      </p:sp>
      <p:sp>
        <p:nvSpPr>
          <p:cNvPr id="17" name="Text 14"/>
          <p:cNvSpPr/>
          <p:nvPr/>
        </p:nvSpPr>
        <p:spPr>
          <a:xfrm>
            <a:off x="6243042" y="3122563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Недостаточная глубина сети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243042" y="3650531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Ограничивает извлечение тонких признаков пород.</a:t>
            </a:r>
            <a:endParaRPr lang="en-US" sz="1100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8027801" y="4824248"/>
            <a:ext cx="1059443" cy="258555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53740"/>
            <a:ext cx="482560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Перспективы развития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409328"/>
            <a:ext cx="2290465" cy="1530028"/>
          </a:xfrm>
          <a:prstGeom prst="roundRect">
            <a:avLst>
              <a:gd name="adj" fmla="val 5976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06069" y="1409328"/>
            <a:ext cx="76200" cy="1530028"/>
          </a:xfrm>
          <a:prstGeom prst="roundRect">
            <a:avLst>
              <a:gd name="adj" fmla="val 78140"/>
            </a:avLst>
          </a:prstGeom>
          <a:solidFill>
            <a:srgbClr val="EEAEF6"/>
          </a:solidFill>
          <a:ln/>
        </p:spPr>
      </p:sp>
      <p:sp>
        <p:nvSpPr>
          <p:cNvPr id="6" name="Text 3"/>
          <p:cNvSpPr/>
          <p:nvPr/>
        </p:nvSpPr>
        <p:spPr>
          <a:xfrm>
            <a:off x="4143077" y="1570137"/>
            <a:ext cx="191169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Расширение датасета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43077" y="2098104"/>
            <a:ext cx="19116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Добавление редких и смешанных пород.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1409328"/>
            <a:ext cx="2290539" cy="1530028"/>
          </a:xfrm>
          <a:prstGeom prst="roundRect">
            <a:avLst>
              <a:gd name="adj" fmla="val 5976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38292" y="1409328"/>
            <a:ext cx="76200" cy="1530028"/>
          </a:xfrm>
          <a:prstGeom prst="roundRect">
            <a:avLst>
              <a:gd name="adj" fmla="val 78140"/>
            </a:avLst>
          </a:prstGeom>
          <a:solidFill>
            <a:srgbClr val="EEAEF6"/>
          </a:solidFill>
          <a:ln/>
        </p:spPr>
      </p:sp>
      <p:sp>
        <p:nvSpPr>
          <p:cNvPr id="10" name="Text 7"/>
          <p:cNvSpPr/>
          <p:nvPr/>
        </p:nvSpPr>
        <p:spPr>
          <a:xfrm>
            <a:off x="6575301" y="1570137"/>
            <a:ext cx="191177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Улучшение архитектуры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75301" y="2098104"/>
            <a:ext cx="191177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Использование более глубоких сетей (ResNet, EfficientNet).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25119" y="3081114"/>
            <a:ext cx="2290465" cy="1308571"/>
          </a:xfrm>
          <a:prstGeom prst="roundRect">
            <a:avLst>
              <a:gd name="adj" fmla="val 6988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906069" y="3081114"/>
            <a:ext cx="76200" cy="1308571"/>
          </a:xfrm>
          <a:prstGeom prst="roundRect">
            <a:avLst>
              <a:gd name="adj" fmla="val 78140"/>
            </a:avLst>
          </a:prstGeom>
          <a:solidFill>
            <a:srgbClr val="EEAEF6"/>
          </a:solidFill>
          <a:ln/>
        </p:spPr>
      </p:sp>
      <p:sp>
        <p:nvSpPr>
          <p:cNvPr id="14" name="Text 11"/>
          <p:cNvSpPr/>
          <p:nvPr/>
        </p:nvSpPr>
        <p:spPr>
          <a:xfrm>
            <a:off x="4143077" y="324192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Обработка видео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143077" y="3548435"/>
            <a:ext cx="19116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Реальное время классификации в потоковом видео.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357342" y="3081114"/>
            <a:ext cx="2290539" cy="1308571"/>
          </a:xfrm>
          <a:prstGeom prst="roundRect">
            <a:avLst>
              <a:gd name="adj" fmla="val 6988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38292" y="3081114"/>
            <a:ext cx="76200" cy="1308571"/>
          </a:xfrm>
          <a:prstGeom prst="roundRect">
            <a:avLst>
              <a:gd name="adj" fmla="val 78140"/>
            </a:avLst>
          </a:prstGeom>
          <a:solidFill>
            <a:srgbClr val="EEAEF6"/>
          </a:solidFill>
          <a:ln/>
        </p:spPr>
      </p:sp>
      <p:sp>
        <p:nvSpPr>
          <p:cNvPr id="18" name="Text 15"/>
          <p:cNvSpPr/>
          <p:nvPr/>
        </p:nvSpPr>
        <p:spPr>
          <a:xfrm>
            <a:off x="6575301" y="3241923"/>
            <a:ext cx="191177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Мобильное приложение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575301" y="3769891"/>
            <a:ext cx="19117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Интеграция для владельцев собак.</a:t>
            </a:r>
            <a:endParaRPr lang="en-US" sz="1100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8027801" y="4824248"/>
            <a:ext cx="1059443" cy="258555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6351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Выводы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219102"/>
            <a:ext cx="472276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В ходе работы были изучены основные принципы разработки сверточной нейросети на основе готовой модели. Разработана система, способная определить породу собаки по фото с точностью 59% и вывести информацию о наиболее вероятной породе. Система демонстрирует практическую применимость компьютерного зрения в задачах классификации животных.</a:t>
            </a:r>
            <a:endParaRPr lang="en-US" sz="11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027801" y="4824248"/>
            <a:ext cx="1059443" cy="258555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466</Words>
  <Application>Microsoft Office PowerPoint</Application>
  <PresentationFormat>Экран (16:9)</PresentationFormat>
  <Paragraphs>90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Calibri</vt:lpstr>
      <vt:lpstr>Bricolage Grotesque ExtraBold</vt:lpstr>
      <vt:lpstr>Bricolage Grotesque Light</vt:lpstr>
      <vt:lpstr>Arial</vt:lpstr>
      <vt:lpstr>Montserrat</vt:lpstr>
      <vt:lpstr>Century Gothic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Shv31cAr hentI</dc:creator>
  <cp:lastModifiedBy>Учетная запись Майкрософт</cp:lastModifiedBy>
  <cp:revision>4</cp:revision>
  <dcterms:created xsi:type="dcterms:W3CDTF">2026-05-25T18:08:13Z</dcterms:created>
  <dcterms:modified xsi:type="dcterms:W3CDTF">2026-05-25T18:33:26Z</dcterms:modified>
</cp:coreProperties>
</file>