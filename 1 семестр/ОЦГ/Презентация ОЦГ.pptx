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666" r:id="rId3"/>
    <p:sldMasterId id="2147483673" r:id="rId4"/>
  </p:sldMasterIdLst>
  <p:notesMasterIdLst>
    <p:notesMasterId r:id="rId10"/>
  </p:notesMasterIdLst>
  <p:sldIdLst>
    <p:sldId id="1170" r:id="rId5"/>
    <p:sldId id="1179" r:id="rId6"/>
    <p:sldId id="1195" r:id="rId7"/>
    <p:sldId id="1181" r:id="rId8"/>
    <p:sldId id="1197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890C4-5010-44EA-85A7-6F8042B70512}" type="datetimeFigureOut">
              <a:rPr lang="ru-RU" smtClean="0"/>
              <a:t>01.10.2023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9AFCF-577A-4E24-869B-E85A94CB63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233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EDE2F8-02D4-C448-B364-7246A6689E7F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9475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EDE2F8-02D4-C448-B364-7246A6689E7F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2918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ая стран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6EB76-0898-4F71-9685-0F9BE4E1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CD38B1-ACC6-416C-AF72-6F91347F95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568243"/>
            <a:ext cx="6330950" cy="841155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3pPr marL="914400" indent="0">
              <a:buNone/>
              <a:defRPr/>
            </a:lvl3pPr>
          </a:lstStyle>
          <a:p>
            <a:pPr lvl="0"/>
            <a:r>
              <a:rPr lang="ru-RU" dirty="0"/>
              <a:t>Имя Фамилия 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0C140D7-ACA5-419A-846F-D1888293EF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52598" y="5993952"/>
            <a:ext cx="3488540" cy="387798"/>
          </a:xfrm>
        </p:spPr>
        <p:txBody>
          <a:bodyPr/>
          <a:lstStyle>
            <a:lvl2pPr>
              <a:defRPr/>
            </a:lvl2pPr>
            <a:lvl3pPr marL="914400" indent="0">
              <a:buNone/>
              <a:defRPr/>
            </a:lvl3pPr>
          </a:lstStyle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1550901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один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748982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07290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>
          <p15:clr>
            <a:srgbClr val="9FCC3B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а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C75DE5C1-456E-4D90-87F0-D35E9FD23C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56364" y="1341437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714950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е колонки в одном блок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11090275" cy="5040312"/>
          </a:xfrm>
        </p:spPr>
        <p:txBody>
          <a:bodyPr numCol="2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735346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88136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6875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2AFB8C0-5C8E-4D3D-ADF9-00059CE618CF}"/>
              </a:ext>
            </a:extLst>
          </p:cNvPr>
          <p:cNvSpPr txBox="1"/>
          <p:nvPr userDrawn="1"/>
        </p:nvSpPr>
        <p:spPr>
          <a:xfrm>
            <a:off x="9541404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704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1843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0205243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5385"/>
          <a:stretch/>
        </p:blipFill>
        <p:spPr>
          <a:xfrm>
            <a:off x="10776480" y="5500691"/>
            <a:ext cx="864658" cy="9138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676746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A6AFA2-D81A-4798-AEC0-3F4A7A8C22AC}"/>
              </a:ext>
            </a:extLst>
          </p:cNvPr>
          <p:cNvSpPr txBox="1"/>
          <p:nvPr userDrawn="1"/>
        </p:nvSpPr>
        <p:spPr>
          <a:xfrm>
            <a:off x="571238" y="6179006"/>
            <a:ext cx="320506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dirty="0">
                <a:solidFill>
                  <a:schemeClr val="bg1">
                    <a:lumMod val="50000"/>
                  </a:schemeClr>
                </a:solidFill>
              </a:rPr>
              <a:t>© </a:t>
            </a:r>
            <a:r>
              <a:rPr lang="ru-RU" sz="1100" b="0" dirty="0">
                <a:solidFill>
                  <a:schemeClr val="bg1">
                    <a:lumMod val="50000"/>
                  </a:schemeClr>
                </a:solidFill>
              </a:rPr>
              <a:t>ГУАП, 2023</a:t>
            </a:r>
            <a:endParaRPr lang="ru-RU" sz="1400" b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0366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3 - для выступле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772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4 - с конта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AF823-6E65-4BE2-B22A-CEAA3977E7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6363" y="3275544"/>
            <a:ext cx="5184775" cy="1997341"/>
          </a:xfrm>
        </p:spPr>
        <p:txBody>
          <a:bodyPr anchor="ctr" anchorCtr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219754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4931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дин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8E0F7007-BD13-44DA-B2D4-D16824AB4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2" y="1341438"/>
            <a:ext cx="7475537" cy="5040312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147621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>
          <p15:clr>
            <a:srgbClr val="9FCC3B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дин блок с заголовком/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8E0F7007-BD13-44DA-B2D4-D16824AB4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2" y="1819276"/>
            <a:ext cx="7475537" cy="45624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4C3877D-2148-449E-8D18-378259BFDF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3" y="1341438"/>
            <a:ext cx="7475536" cy="635000"/>
          </a:xfrm>
        </p:spPr>
        <p:txBody>
          <a:bodyPr/>
          <a:lstStyle/>
          <a:p>
            <a:pPr lvl="1"/>
            <a:r>
              <a:rPr lang="ru-RU" dirty="0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990912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>
          <p15:clr>
            <a:srgbClr val="9FCC3B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04B2F2CF-1F6E-4737-8380-2ACFF853EA4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5184775" cy="50403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484797F9-7539-4EA9-A418-767254923B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56363" y="1341438"/>
            <a:ext cx="5184775" cy="50403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8325001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блока с заголовком/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8E0F7007-BD13-44DA-B2D4-D16824AB4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1828800"/>
            <a:ext cx="5184776" cy="4552949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4C3877D-2148-449E-8D18-378259BFDF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3" y="1341438"/>
            <a:ext cx="5184775" cy="635000"/>
          </a:xfrm>
        </p:spPr>
        <p:txBody>
          <a:bodyPr/>
          <a:lstStyle/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8" name="Объект 6">
            <a:extLst>
              <a:ext uri="{FF2B5EF4-FFF2-40B4-BE49-F238E27FC236}">
                <a16:creationId xmlns:a16="http://schemas.microsoft.com/office/drawing/2014/main" id="{9A78599F-D79E-4281-BEF4-7422CEEA54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66194" y="1828800"/>
            <a:ext cx="5184776" cy="4552949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42A86BF5-AF69-48DE-AFDD-C1FAD65027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66194" y="1341438"/>
            <a:ext cx="5184775" cy="635000"/>
          </a:xfrm>
        </p:spPr>
        <p:txBody>
          <a:bodyPr/>
          <a:lstStyle/>
          <a:p>
            <a:pPr lvl="1"/>
            <a:r>
              <a:rPr lang="ru-RU" dirty="0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38037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9" Type="http://schemas.openxmlformats.org/officeDocument/2006/relationships/image" Target="../media/image5.sv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5.sv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A26B8BC-9AE2-41D8-8A90-8D1C0A2A55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009951-9659-4924-B8D1-D9994BE1E4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6155"/>
          <a:stretch/>
        </p:blipFill>
        <p:spPr>
          <a:xfrm>
            <a:off x="550865" y="304376"/>
            <a:ext cx="2827336" cy="109537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39E3CC-EBAD-4C68-8215-E3D1E3388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2509678"/>
            <a:ext cx="8051638" cy="132556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20187D-590C-4FB1-A787-08B69F583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4568243"/>
            <a:ext cx="6234948" cy="10047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1450136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r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32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2" pos="7333">
          <p15:clr>
            <a:srgbClr val="F26B43"/>
          </p15:clr>
        </p15:guide>
        <p15:guide id="3" orient="horz" pos="402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44A2A7-9511-4B2D-A046-C71363808B05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349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3613">
          <p15:clr>
            <a:srgbClr val="F26B43"/>
          </p15:clr>
        </p15:guide>
        <p15:guide id="6" pos="4067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14C9C7-3F3B-4FAE-B19C-B28F0A67B7F7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0291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4067">
          <p15:clr>
            <a:srgbClr val="F26B43"/>
          </p15:clr>
        </p15:guide>
        <p15:guide id="6" pos="361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9BA297-C05B-4A1B-BC54-4DA26B4C6721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9745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3613">
          <p15:clr>
            <a:srgbClr val="F26B43"/>
          </p15:clr>
        </p15:guide>
        <p15:guide id="6" pos="406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A5BC97-99E1-4827-A5AA-5E9EBED1B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Командная строка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EA8D34-BBBA-48A9-9B83-130C3E8DC9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ru-RU" dirty="0"/>
              <a:t>Березин Егор, гр. 4341</a:t>
            </a:r>
            <a:br>
              <a:rPr lang="ru-RU" dirty="0"/>
            </a:br>
            <a:endParaRPr lang="ru-RU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07A34E64-1FF5-4435-9849-D1D5830842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152598" y="5993952"/>
            <a:ext cx="3488540" cy="387798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ru-RU" dirty="0"/>
              <a:t>2023</a:t>
            </a:r>
          </a:p>
        </p:txBody>
      </p:sp>
    </p:spTree>
    <p:extLst>
      <p:ext uri="{BB962C8B-B14F-4D97-AF65-F5344CB8AC3E}">
        <p14:creationId xmlns:p14="http://schemas.microsoft.com/office/powerpoint/2010/main" val="3622029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76250"/>
            <a:ext cx="9608330" cy="332399"/>
          </a:xfrm>
        </p:spPr>
        <p:txBody>
          <a:bodyPr/>
          <a:lstStyle/>
          <a:p>
            <a:r>
              <a:rPr lang="ru-RU" dirty="0"/>
              <a:t>Что такое командная строка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9452D1-89AA-4C5A-88F0-499C88E144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3"/>
            <a:r>
              <a:rPr lang="ru-RU" i="1" dirty="0">
                <a:solidFill>
                  <a:schemeClr val="accent1"/>
                </a:solidFill>
              </a:rPr>
              <a:t>Командная строка (или «консоль»)</a:t>
            </a:r>
            <a:r>
              <a:rPr lang="ru-RU" dirty="0"/>
              <a:t>— это текстовый интерфейс между человеком и компьютером, в котором инструкции компьютеру даются путём ввода с клавиатуры текстовых строк (команд). Интерфейс командной строки противопоставляется управлению программами на основе меню, а также различным реализациям графического интерфейса.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71DDA969-D896-47E2-BC8E-EBF99A51696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607277" y="1425677"/>
            <a:ext cx="4906297" cy="3254478"/>
          </a:xfrm>
        </p:spPr>
        <p:txBody>
          <a:bodyPr/>
          <a:lstStyle/>
          <a:p>
            <a:pPr lvl="4"/>
            <a:r>
              <a:rPr lang="en-US" dirty="0"/>
              <a:t>Cmd.exe — </a:t>
            </a:r>
            <a:r>
              <a:rPr lang="ru-RU" dirty="0"/>
              <a:t>интерпретатор командной строки для операционных систем </a:t>
            </a:r>
            <a:r>
              <a:rPr lang="en-US" dirty="0"/>
              <a:t>OS/2, Windows CE </a:t>
            </a:r>
            <a:r>
              <a:rPr lang="ru-RU" dirty="0"/>
              <a:t>и для семейства операционных систем, базирующихся на </a:t>
            </a:r>
            <a:r>
              <a:rPr lang="en-US" dirty="0"/>
              <a:t>Windows NT: Windows 2000, Windows XP, Windows Vista, Windows 7, Windows Server 2003 </a:t>
            </a:r>
            <a:r>
              <a:rPr lang="ru-RU" dirty="0"/>
              <a:t>и </a:t>
            </a:r>
            <a:r>
              <a:rPr lang="en-US" dirty="0"/>
              <a:t>Windows Server 2008. Cmd.exe </a:t>
            </a:r>
            <a:r>
              <a:rPr lang="ru-RU" dirty="0"/>
              <a:t>является аналогом </a:t>
            </a:r>
            <a:r>
              <a:rPr lang="en-US" dirty="0"/>
              <a:t>COMMAND.COM, </a:t>
            </a:r>
            <a:r>
              <a:rPr lang="ru-RU" dirty="0"/>
              <a:t>которая использовалась в </a:t>
            </a:r>
            <a:r>
              <a:rPr lang="en-US" dirty="0"/>
              <a:t>MS-DOS, Windows 95 </a:t>
            </a:r>
            <a:r>
              <a:rPr lang="ru-RU" dirty="0"/>
              <a:t>и </a:t>
            </a:r>
            <a:r>
              <a:rPr lang="en-US" dirty="0"/>
              <a:t>Windows 98.</a:t>
            </a:r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88546E3-8D05-44E2-9C18-D8AE8A666AB6}"/>
              </a:ext>
            </a:extLst>
          </p:cNvPr>
          <p:cNvSpPr/>
          <p:nvPr/>
        </p:nvSpPr>
        <p:spPr>
          <a:xfrm>
            <a:off x="6456364" y="1341436"/>
            <a:ext cx="5184773" cy="3800835"/>
          </a:xfrm>
          <a:prstGeom prst="rect">
            <a:avLst/>
          </a:prstGeom>
          <a:noFill/>
          <a:ln w="381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2C5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6328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493B891A-77A5-4D74-AF37-CFD642A9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</p:spPr>
        <p:txBody>
          <a:bodyPr/>
          <a:lstStyle/>
          <a:p>
            <a:r>
              <a:rPr lang="ru-RU" dirty="0"/>
              <a:t>Как вызвать командную строку</a:t>
            </a:r>
          </a:p>
        </p:txBody>
      </p:sp>
      <p:sp>
        <p:nvSpPr>
          <p:cNvPr id="14" name="Объект 13">
            <a:extLst>
              <a:ext uri="{FF2B5EF4-FFF2-40B4-BE49-F238E27FC236}">
                <a16:creationId xmlns:a16="http://schemas.microsoft.com/office/drawing/2014/main" id="{6E7FFA5D-C895-4F81-A089-1A9AF5F730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2266887"/>
            <a:ext cx="6717435" cy="2324225"/>
          </a:xfrm>
        </p:spPr>
        <p:txBody>
          <a:bodyPr>
            <a:normAutofit/>
          </a:bodyPr>
          <a:lstStyle/>
          <a:p>
            <a:pPr marL="285750" lvl="3" indent="-285750">
              <a:buClr>
                <a:schemeClr val="tx2">
                  <a:lumMod val="90000"/>
                  <a:lumOff val="10000"/>
                </a:schemeClr>
              </a:buClr>
              <a:buFont typeface="Wingdings" panose="05000000000000000000" pitchFamily="2" charset="2"/>
              <a:buChar char="v"/>
            </a:pPr>
            <a:r>
              <a:rPr lang="ru-RU" sz="2000" dirty="0"/>
              <a:t>Вызвать командную строку можно набрав в меню, появляющемуся по нажатию </a:t>
            </a:r>
            <a:r>
              <a:rPr lang="ru-RU" sz="2000" dirty="0" err="1"/>
              <a:t>Win</a:t>
            </a:r>
            <a:r>
              <a:rPr lang="ru-RU" sz="2000" dirty="0"/>
              <a:t>-r, команду </a:t>
            </a:r>
            <a:r>
              <a:rPr lang="ru-RU" sz="2000" dirty="0" err="1"/>
              <a:t>cmd</a:t>
            </a:r>
            <a:r>
              <a:rPr lang="ru-RU" sz="2000" dirty="0"/>
              <a:t>, и нажав Enter.</a:t>
            </a:r>
          </a:p>
          <a:p>
            <a:pPr marL="285750" lvl="3" indent="-285750">
              <a:buClr>
                <a:schemeClr val="tx2">
                  <a:lumMod val="90000"/>
                  <a:lumOff val="10000"/>
                </a:schemeClr>
              </a:buClr>
              <a:buFont typeface="Wingdings" panose="05000000000000000000" pitchFamily="2" charset="2"/>
              <a:buChar char="v"/>
            </a:pPr>
            <a:r>
              <a:rPr lang="ru-RU" sz="2000" dirty="0"/>
              <a:t>В современных версиях </a:t>
            </a:r>
            <a:r>
              <a:rPr lang="en-US" sz="2000" dirty="0"/>
              <a:t>Windows </a:t>
            </a:r>
            <a:r>
              <a:rPr lang="ru-RU" sz="2000" dirty="0"/>
              <a:t>командную строку можно вызвать через поиск в меню Пуск (клавиша </a:t>
            </a:r>
            <a:r>
              <a:rPr lang="en-US" sz="2000" dirty="0"/>
              <a:t>Win</a:t>
            </a:r>
            <a:r>
              <a:rPr lang="ru-RU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67328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команд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9452D1-89AA-4C5A-88F0-499C88E144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1341438"/>
            <a:ext cx="4765208" cy="5040312"/>
          </a:xfrm>
        </p:spPr>
        <p:txBody>
          <a:bodyPr/>
          <a:lstStyle/>
          <a:p>
            <a:pPr lvl="3"/>
            <a:r>
              <a:rPr lang="en-US" i="1" dirty="0">
                <a:solidFill>
                  <a:schemeClr val="accent1"/>
                </a:solidFill>
              </a:rPr>
              <a:t>help </a:t>
            </a:r>
            <a:r>
              <a:rPr lang="ru-RU" i="1" dirty="0">
                <a:solidFill>
                  <a:schemeClr val="accent1"/>
                </a:solidFill>
              </a:rPr>
              <a:t>*имя другой команды* </a:t>
            </a:r>
            <a:r>
              <a:rPr lang="ru-RU" i="1" dirty="0"/>
              <a:t> – </a:t>
            </a:r>
            <a:r>
              <a:rPr lang="ru-RU" dirty="0"/>
              <a:t>выводит информацию о данной команде</a:t>
            </a:r>
          </a:p>
          <a:p>
            <a:pPr lvl="3"/>
            <a:r>
              <a:rPr lang="en-US" i="1" dirty="0">
                <a:solidFill>
                  <a:schemeClr val="accent1"/>
                </a:solidFill>
              </a:rPr>
              <a:t>ping </a:t>
            </a:r>
            <a:r>
              <a:rPr lang="ru-RU" i="1" dirty="0">
                <a:solidFill>
                  <a:schemeClr val="accent1"/>
                </a:solidFill>
              </a:rPr>
              <a:t>*ссылка на сайт* </a:t>
            </a:r>
            <a:r>
              <a:rPr lang="ru-RU" i="1" dirty="0"/>
              <a:t> – </a:t>
            </a:r>
            <a:r>
              <a:rPr lang="ru-RU" dirty="0"/>
              <a:t>проверяет интернет-соединение с сайтом. Выводит отчет о передачи тестовых файлов</a:t>
            </a:r>
          </a:p>
          <a:p>
            <a:pPr lvl="3"/>
            <a:r>
              <a:rPr lang="en-US" i="1" dirty="0">
                <a:solidFill>
                  <a:schemeClr val="accent1"/>
                </a:solidFill>
              </a:rPr>
              <a:t>shutdown</a:t>
            </a:r>
            <a:r>
              <a:rPr lang="ru-RU" i="1" dirty="0">
                <a:solidFill>
                  <a:schemeClr val="accent1"/>
                </a:solidFill>
              </a:rPr>
              <a:t> </a:t>
            </a:r>
            <a:r>
              <a:rPr lang="ru-RU" i="1" dirty="0"/>
              <a:t>– </a:t>
            </a:r>
            <a:r>
              <a:rPr lang="ru-RU" dirty="0"/>
              <a:t>запускает процесс завершения работы и выключения устройства. Если не прописывать дополнительные параметры, то выключится само устройство, причем незамедлительно</a:t>
            </a:r>
          </a:p>
          <a:p>
            <a:pPr lvl="3"/>
            <a:r>
              <a:rPr lang="en-US" i="1" dirty="0">
                <a:solidFill>
                  <a:schemeClr val="accent1"/>
                </a:solidFill>
              </a:rPr>
              <a:t>color </a:t>
            </a:r>
            <a:r>
              <a:rPr lang="ru-RU" i="1" dirty="0">
                <a:solidFill>
                  <a:schemeClr val="accent1"/>
                </a:solidFill>
              </a:rPr>
              <a:t>*</a:t>
            </a:r>
            <a:r>
              <a:rPr lang="en-US" i="1" dirty="0">
                <a:solidFill>
                  <a:schemeClr val="accent1"/>
                </a:solidFill>
              </a:rPr>
              <a:t>XY</a:t>
            </a:r>
            <a:r>
              <a:rPr lang="ru-RU" i="1" dirty="0">
                <a:solidFill>
                  <a:schemeClr val="accent1"/>
                </a:solidFill>
              </a:rPr>
              <a:t>* , </a:t>
            </a:r>
            <a:r>
              <a:rPr lang="ru-RU" dirty="0"/>
              <a:t>где Х – цвет фона, а </a:t>
            </a:r>
            <a:r>
              <a:rPr lang="en-US" dirty="0"/>
              <a:t>Y </a:t>
            </a:r>
            <a:r>
              <a:rPr lang="ru-RU" dirty="0"/>
              <a:t>– цвет шрифта. Меняет оформление командной строки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A12492C-40EB-FD3B-8F6F-D177403AC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587" y="1341438"/>
            <a:ext cx="6067903" cy="4383740"/>
          </a:xfrm>
          <a:prstGeom prst="snip2DiagRect">
            <a:avLst>
              <a:gd name="adj1" fmla="val 12142"/>
              <a:gd name="adj2" fmla="val 1100"/>
            </a:avLst>
          </a:prstGeom>
        </p:spPr>
      </p:pic>
      <p:sp>
        <p:nvSpPr>
          <p:cNvPr id="4" name="Текст 5">
            <a:extLst>
              <a:ext uri="{FF2B5EF4-FFF2-40B4-BE49-F238E27FC236}">
                <a16:creationId xmlns:a16="http://schemas.microsoft.com/office/drawing/2014/main" id="{0B8C1363-2515-FBCC-081D-E4CE970332BF}"/>
              </a:ext>
            </a:extLst>
          </p:cNvPr>
          <p:cNvSpPr txBox="1">
            <a:spLocks/>
          </p:cNvSpPr>
          <p:nvPr/>
        </p:nvSpPr>
        <p:spPr>
          <a:xfrm>
            <a:off x="6875930" y="5815024"/>
            <a:ext cx="4121919" cy="635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ru-RU" dirty="0"/>
              <a:t>Рисунок 1 – окно командной строки с примером команд</a:t>
            </a:r>
          </a:p>
        </p:txBody>
      </p:sp>
    </p:spTree>
    <p:extLst>
      <p:ext uri="{BB962C8B-B14F-4D97-AF65-F5344CB8AC3E}">
        <p14:creationId xmlns:p14="http://schemas.microsoft.com/office/powerpoint/2010/main" val="2468942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F707855-C815-4FF1-B493-8351700E17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Вопросы</a:t>
            </a:r>
          </a:p>
        </p:txBody>
      </p:sp>
    </p:spTree>
    <p:extLst>
      <p:ext uri="{BB962C8B-B14F-4D97-AF65-F5344CB8AC3E}">
        <p14:creationId xmlns:p14="http://schemas.microsoft.com/office/powerpoint/2010/main" val="3872730711"/>
      </p:ext>
    </p:extLst>
  </p:cSld>
  <p:clrMapOvr>
    <a:masterClrMapping/>
  </p:clrMapOvr>
</p:sld>
</file>

<file path=ppt/theme/theme1.xml><?xml version="1.0" encoding="utf-8"?>
<a:theme xmlns:a="http://schemas.openxmlformats.org/drawingml/2006/main" name="Титульная страница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75426110-BF82-4921-B51E-81780A536C48}"/>
    </a:ext>
  </a:extLst>
</a:theme>
</file>

<file path=ppt/theme/theme2.xml><?xml version="1.0" encoding="utf-8"?>
<a:theme xmlns:a="http://schemas.openxmlformats.org/drawingml/2006/main" name="Текстов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8C20C85A-CFD0-4C40-80A0-6689F915CE1B}"/>
    </a:ext>
  </a:extLst>
</a:theme>
</file>

<file path=ppt/theme/theme3.xml><?xml version="1.0" encoding="utf-8"?>
<a:theme xmlns:a="http://schemas.openxmlformats.org/drawingml/2006/main" name="Дополнительн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AFBC0B84-8B15-49D7-9C5E-B813409B8E8A}"/>
    </a:ext>
  </a:extLst>
</a:theme>
</file>

<file path=ppt/theme/theme4.xml><?xml version="1.0" encoding="utf-8"?>
<a:theme xmlns:a="http://schemas.openxmlformats.org/drawingml/2006/main" name="Универсальные блоки - таблицы, рисунки, диаграммы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001A831C-BEEC-4D03-A706-230513593B8E}"/>
    </a:ext>
  </a:extLst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256</Words>
  <Application>Microsoft Office PowerPoint</Application>
  <PresentationFormat>Широкоэкранный</PresentationFormat>
  <Paragraphs>18</Paragraphs>
  <Slides>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5</vt:i4>
      </vt:variant>
    </vt:vector>
  </HeadingPairs>
  <TitlesOfParts>
    <vt:vector size="12" baseType="lpstr">
      <vt:lpstr>Arial</vt:lpstr>
      <vt:lpstr>Calibri</vt:lpstr>
      <vt:lpstr>Wingdings</vt:lpstr>
      <vt:lpstr>Титульная страница</vt:lpstr>
      <vt:lpstr>Текстовые блоки</vt:lpstr>
      <vt:lpstr>Дополнительные блоки</vt:lpstr>
      <vt:lpstr>Универсальные блоки - таблицы, рисунки, диаграммы</vt:lpstr>
      <vt:lpstr>Командная строка</vt:lpstr>
      <vt:lpstr>Что такое командная строка</vt:lpstr>
      <vt:lpstr>Как вызвать командную строку</vt:lpstr>
      <vt:lpstr>Примеры команд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Командная строка</dc:title>
  <dc:creator>Shv31cAr hentI</dc:creator>
  <cp:lastModifiedBy>Shv31cAr hentI</cp:lastModifiedBy>
  <cp:revision>2</cp:revision>
  <dcterms:created xsi:type="dcterms:W3CDTF">2023-10-01T09:04:51Z</dcterms:created>
  <dcterms:modified xsi:type="dcterms:W3CDTF">2023-10-01T12:10:38Z</dcterms:modified>
</cp:coreProperties>
</file>