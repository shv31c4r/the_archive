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sldIdLst>
    <p:sldId id="1174" r:id="rId4"/>
    <p:sldId id="1180" r:id="rId5"/>
    <p:sldId id="1181" r:id="rId6"/>
    <p:sldId id="1186" r:id="rId7"/>
    <p:sldId id="1187" r:id="rId8"/>
    <p:sldId id="1188" r:id="rId9"/>
    <p:sldId id="1189" r:id="rId10"/>
    <p:sldId id="1197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8422BB-D2BF-857C-F48C-BEAF2620D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0E2BC25-E43F-7040-8857-2FE31EE3D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1F86F95-A994-2483-21CE-C4E48DA95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A12462-AE0E-E682-1AC1-A5DBFF06C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800549-DE93-9D41-4D0C-1479AA1D2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94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BD7E3-80B1-9F7E-79C8-D58EE80C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9CAC58-94FC-07F6-8246-3E43DCDFA5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9A49D2-4068-E534-A377-87AD51A8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8DD4E6-FD69-486F-5868-74764E4E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00A142-73AE-6379-F854-E7EE48E4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7868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793F2-1697-E339-2FDF-762351EF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EEE04FB-C463-3FB2-3B44-4A7280AB04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AB9BCD-4A6A-D3E0-565B-46F4ED879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824254-2F6C-9FD4-551E-E4AB1AC79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82FC1D-A919-D62C-5774-03621D4FB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604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099705-3EC1-3B9B-E434-E6603EE24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28F876-E41A-DB9F-5EE1-E09D87C49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0930167-64E5-B78F-B894-443BAE8BF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D6AD7B9-0FAC-A45F-83AD-28011E616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B30D15-411B-FF20-9E62-46E542AC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EC40562-63F3-FE11-B17B-A8CCB5EA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0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7A222-25A0-8FCB-428C-20B36475B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03CE27-4FAC-AEC0-11D8-EE836AD77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511D70-2261-395B-2ACE-DB246422E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B17F82E-5199-2055-EA01-8CBD134D3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193CCDC-517A-5F4A-F640-C574CAE4F0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27B71CE-E6AD-ACDF-F04F-3FD7DC1D0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5B30ED4-02FE-5987-2E1D-46B2DBB34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2CEBE45-2C3F-CDD2-3FEA-93D94025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8349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1032D-FB58-5415-F31F-BF128B4D0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1CE6A2-269B-919B-3675-11ABC0B30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3AB39BB-35F2-48C1-103C-B9E868FCE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72B05CA-51CF-8D1F-D78A-BB0D4DD35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5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D13E3B3-EEDB-9850-8B8A-1A9DF2C8F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97C0286-A3CB-007F-61C0-F3C0C952B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B79B5E-1AE4-ACCA-5B6D-587436E0E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207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33262D-EAED-26A6-1BAB-C1878EE7B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FD9D24-C78B-233E-3A88-9C900AE85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B32144-D829-8D6D-4C04-21B25AD91A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599905-E460-80A8-DECA-00C18301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F1EE57-598B-6DBE-AAB3-C10FFDAA4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3EE9C8E-9BF4-7D1F-5AB4-E9802EB96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3971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6DA2B0-BBA0-CB79-8464-4031FB52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E570F9-5773-A43C-D9D7-30497B427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644DFDB-16B1-319D-B63C-60F4B3B09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CD2FEC-0E87-3CCC-543C-C5968DFE2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A8C6BC0-EE78-B0AA-E178-02B2DB39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F5DAAA-7F24-3DB2-713B-6B315D0FA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5407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440E7-084D-CCBB-B65E-0FFDBAA95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0140601-EECE-0C6A-2104-E5EFF8B604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2399AB5-1759-D8A8-019A-028CAF9F9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764812-BB51-E1F5-CAAC-DCBA2B24C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69DA7D-6CEE-1654-89C2-2DF989A0C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033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82B6452-8B62-F5D8-7B65-3E11CB425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25D0C99-2FBB-94BC-8518-CC767D9CC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7DF5202-5AB5-D116-5AEB-76739D68D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46A908-5BBD-19FF-C5CA-0EC010BA3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FB83C0-10AF-DB41-3B60-5BE1D097D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0778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ая стран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6EB76-0898-4F71-9685-0F9BE4E1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CD38B1-ACC6-416C-AF72-6F91347F9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0863" y="4568243"/>
            <a:ext cx="6330950" cy="841155"/>
          </a:xfrm>
        </p:spPr>
        <p:txBody>
          <a:bodyPr/>
          <a:lstStyle>
            <a:lvl1pPr>
              <a:spcBef>
                <a:spcPts val="0"/>
              </a:spcBef>
              <a:defRPr/>
            </a:lvl1pPr>
            <a:lvl3pPr marL="914400" indent="0">
              <a:buNone/>
              <a:defRPr/>
            </a:lvl3pPr>
          </a:lstStyle>
          <a:p>
            <a:pPr lvl="0"/>
            <a:r>
              <a:rPr lang="ru-RU" dirty="0"/>
              <a:t>Имя Фамилия 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0C140D7-ACA5-419A-846F-D1888293EF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52598" y="5993952"/>
            <a:ext cx="3488540" cy="387798"/>
          </a:xfrm>
        </p:spPr>
        <p:txBody>
          <a:bodyPr/>
          <a:lstStyle>
            <a:lvl2pPr>
              <a:defRPr/>
            </a:lvl2pPr>
            <a:lvl3pPr marL="914400" indent="0">
              <a:buNone/>
              <a:defRPr/>
            </a:lvl3pPr>
          </a:lstStyle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3530341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748982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304663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а бло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" name="Текст 5">
            <a:extLst>
              <a:ext uri="{FF2B5EF4-FFF2-40B4-BE49-F238E27FC236}">
                <a16:creationId xmlns:a16="http://schemas.microsoft.com/office/drawing/2014/main" id="{C75DE5C1-456E-4D90-87F0-D35E9FD23C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56364" y="1341437"/>
            <a:ext cx="5184775" cy="5040312"/>
          </a:xfrm>
        </p:spPr>
        <p:txBody>
          <a:bodyPr numCol="1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167702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 - две колонки в одном блок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84CF1BEE-FB60-4C41-A4CB-1FA10956AD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0863" y="1341438"/>
            <a:ext cx="11090275" cy="5040312"/>
          </a:xfrm>
        </p:spPr>
        <p:txBody>
          <a:bodyPr numCol="2" spcCol="720000"/>
          <a:lstStyle>
            <a:lvl1pPr>
              <a:spcAft>
                <a:spcPts val="1200"/>
              </a:spcAft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8918690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дин бл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D7347E-D0C8-4C5C-B7FE-A4CCFC0D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E0F7007-BD13-44DA-B2D4-D16824AB459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1341438"/>
            <a:ext cx="7475537" cy="5040312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954470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065">
          <p15:clr>
            <a:srgbClr val="9FCC3B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Завершение презентации 4 - с контак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FFF08F3-1FC8-4409-A953-82A3AF7771C7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C8354B0-5DDB-49B4-A187-3CEDA1E200D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89994" y="1141883"/>
            <a:ext cx="2254761" cy="70006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E00DBC-5DC3-4A2C-A94D-350C2F82CC6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5385"/>
          <a:stretch/>
        </p:blipFill>
        <p:spPr>
          <a:xfrm>
            <a:off x="10363289" y="949059"/>
            <a:ext cx="1303250" cy="13774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C432CA-A470-414A-9A8F-5EF0FAB4F9C9}"/>
              </a:ext>
            </a:extLst>
          </p:cNvPr>
          <p:cNvSpPr txBox="1"/>
          <p:nvPr userDrawn="1"/>
        </p:nvSpPr>
        <p:spPr>
          <a:xfrm>
            <a:off x="8147402" y="1734228"/>
            <a:ext cx="2099734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457200" marR="0" lvl="1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5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https://guap.ru</a:t>
            </a:r>
            <a:endParaRPr lang="ru-RU" sz="15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3FAF823-6E65-4BE2-B22A-CEAA3977E75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6363" y="3275544"/>
            <a:ext cx="5184775" cy="1997341"/>
          </a:xfrm>
        </p:spPr>
        <p:txBody>
          <a:bodyPr anchor="ctr" anchorCtr="0"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/>
              <a:t>Контакты</a:t>
            </a:r>
          </a:p>
        </p:txBody>
      </p:sp>
    </p:spTree>
    <p:extLst>
      <p:ext uri="{BB962C8B-B14F-4D97-AF65-F5344CB8AC3E}">
        <p14:creationId xmlns:p14="http://schemas.microsoft.com/office/powerpoint/2010/main" val="757966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65FC6-9DA9-7E7D-5A17-D61537F6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0BDA1B-5ED9-A6E4-AFAC-81F372C45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CE92DD-75BC-1045-34FA-C41E462FC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08F355-22FB-4B1D-8AC6-9D1B6260FE43}" type="datetimeFigureOut">
              <a:rPr lang="ru-RU" smtClean="0"/>
              <a:t>23.02.2024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E76650-8977-626E-4F84-56523CEDFE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F22BA4-63B0-2652-701E-AAB5B10C3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A3CD8-B0A1-404C-A4C1-A761F40FECE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88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A26B8BC-9AE2-41D8-8A90-8D1C0A2A55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/>
            <a:stretch>
              <a:fillRect l="-7937" t="-5796" r="-5797" b="-7938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ru-RU" sz="12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5009951-9659-4924-B8D1-D9994BE1E4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56155"/>
          <a:stretch/>
        </p:blipFill>
        <p:spPr>
          <a:xfrm>
            <a:off x="550865" y="304376"/>
            <a:ext cx="2827336" cy="1095375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39E3CC-EBAD-4C68-8215-E3D1E3388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2509678"/>
            <a:ext cx="8051638" cy="1325563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20187D-590C-4FB1-A787-08B69F583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4568243"/>
            <a:ext cx="6234948" cy="100478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Дата</a:t>
            </a:r>
          </a:p>
        </p:txBody>
      </p:sp>
    </p:spTree>
    <p:extLst>
      <p:ext uri="{BB962C8B-B14F-4D97-AF65-F5344CB8AC3E}">
        <p14:creationId xmlns:p14="http://schemas.microsoft.com/office/powerpoint/2010/main" val="257637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r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32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47">
          <p15:clr>
            <a:srgbClr val="F26B43"/>
          </p15:clr>
        </p15:guide>
        <p15:guide id="2" pos="7333">
          <p15:clr>
            <a:srgbClr val="F26B43"/>
          </p15:clr>
        </p15:guide>
        <p15:guide id="3" orient="horz" pos="40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EFB9A11F-72FA-0A44-9653-48C9EECB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ru-RU" dirty="0"/>
              <a:t>Заголовок слайда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23DE3AE-88ED-4D7E-9545-2150C37B908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26875" y="407976"/>
            <a:ext cx="1014262" cy="314912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95CF6A84-AC35-45BE-AA65-F59DCCC45A75}"/>
              </a:ext>
            </a:extLst>
          </p:cNvPr>
          <p:cNvCxnSpPr>
            <a:cxnSpLocks/>
          </p:cNvCxnSpPr>
          <p:nvPr userDrawn="1"/>
        </p:nvCxnSpPr>
        <p:spPr>
          <a:xfrm>
            <a:off x="550863" y="968502"/>
            <a:ext cx="11090275" cy="0"/>
          </a:xfrm>
          <a:prstGeom prst="line">
            <a:avLst/>
          </a:prstGeom>
          <a:ln w="15875">
            <a:gradFill>
              <a:gsLst>
                <a:gs pos="0">
                  <a:schemeClr val="accent1"/>
                </a:gs>
                <a:gs pos="54000">
                  <a:schemeClr val="accent3"/>
                </a:gs>
                <a:gs pos="100000">
                  <a:schemeClr val="accent2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>
            <a:extLst>
              <a:ext uri="{FF2B5EF4-FFF2-40B4-BE49-F238E27FC236}">
                <a16:creationId xmlns:a16="http://schemas.microsoft.com/office/drawing/2014/main" id="{3B768B2F-9C22-468C-B230-607F8CFF7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2" y="1341437"/>
            <a:ext cx="10515600" cy="420166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ru-RU" dirty="0"/>
              <a:t>Подзаголовок</a:t>
            </a:r>
          </a:p>
          <a:p>
            <a:pPr lvl="1"/>
            <a:r>
              <a:rPr lang="ru-RU" dirty="0"/>
              <a:t>Заголовок таблицы</a:t>
            </a:r>
          </a:p>
          <a:p>
            <a:pPr lvl="2"/>
            <a:r>
              <a:rPr lang="ru-RU" dirty="0"/>
              <a:t>Подпись рисунка</a:t>
            </a:r>
          </a:p>
          <a:p>
            <a:pPr lvl="3"/>
            <a:r>
              <a:rPr lang="ru-RU" dirty="0"/>
              <a:t>Текст</a:t>
            </a:r>
          </a:p>
          <a:p>
            <a:pPr lvl="4"/>
            <a:r>
              <a:rPr lang="ru-RU" dirty="0"/>
              <a:t>Выделенный текст</a:t>
            </a:r>
          </a:p>
          <a:p>
            <a:pPr lvl="5"/>
            <a:r>
              <a:rPr lang="ru-RU" dirty="0"/>
              <a:t>Маркеры</a:t>
            </a:r>
          </a:p>
          <a:p>
            <a:pPr lvl="6"/>
            <a:r>
              <a:rPr lang="ru-RU" dirty="0"/>
              <a:t>Нумерация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44A2A7-9511-4B2D-A046-C71363808B05}"/>
              </a:ext>
            </a:extLst>
          </p:cNvPr>
          <p:cNvSpPr txBox="1"/>
          <p:nvPr userDrawn="1"/>
        </p:nvSpPr>
        <p:spPr>
          <a:xfrm>
            <a:off x="9212262" y="6513813"/>
            <a:ext cx="24288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261FCC40-BD7D-499B-BF07-C5DEC022620E}" type="slidenum">
              <a:rPr lang="ru-RU" sz="1200" kern="120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pPr algn="r"/>
              <a:t>‹#›</a:t>
            </a:fld>
            <a:endParaRPr lang="ru-RU" sz="1200" kern="1200" dirty="0">
              <a:solidFill>
                <a:schemeClr val="tx2">
                  <a:lumMod val="9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0978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kern="1200">
          <a:solidFill>
            <a:schemeClr val="tx2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800" b="1" kern="1200">
          <a:solidFill>
            <a:schemeClr val="accent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SzPct val="120000"/>
        <a:buFont typeface="Wingdings" panose="05000000000000000000" pitchFamily="2" charset="2"/>
        <a:buNone/>
        <a:defRPr sz="1400" b="1" kern="1200">
          <a:solidFill>
            <a:schemeClr val="tx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1">
            <a:lumMod val="50000"/>
          </a:schemeClr>
        </a:buClr>
        <a:buFont typeface="+mj-lt"/>
        <a:buNone/>
        <a:tabLst>
          <a:tab pos="269875" algn="l"/>
        </a:tabLst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None/>
        <a:defRPr sz="1600" b="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85750" indent="-28575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chemeClr val="accent2"/>
        </a:buClr>
        <a:buFont typeface="Wingdings" panose="05000000000000000000" pitchFamily="2" charset="2"/>
        <a:buChar char="§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6pPr>
      <a:lvl7pPr marL="271463" indent="-271463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+mj-lt"/>
        <a:buAutoNum type="arabicPeriod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>
          <p15:clr>
            <a:srgbClr val="F26B43"/>
          </p15:clr>
        </p15:guide>
        <p15:guide id="2" pos="347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7333">
          <p15:clr>
            <a:srgbClr val="F26B43"/>
          </p15:clr>
        </p15:guide>
        <p15:guide id="5" pos="3613">
          <p15:clr>
            <a:srgbClr val="F26B43"/>
          </p15:clr>
        </p15:guide>
        <p15:guide id="6" pos="40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A5BC97-99E1-4827-A5AA-5E9EBED1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Dialects of Assembly language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ru-RU" dirty="0"/>
            </a:br>
            <a:endParaRPr lang="ru-RU" dirty="0"/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7A34E64-1FF5-4435-9849-D1D58308425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dirty="0"/>
              <a:t>24.02.2024</a:t>
            </a:r>
            <a:endParaRPr lang="ru-RU" dirty="0"/>
          </a:p>
        </p:txBody>
      </p:sp>
      <p:sp>
        <p:nvSpPr>
          <p:cNvPr id="4" name="Текст 2">
            <a:extLst>
              <a:ext uri="{FF2B5EF4-FFF2-40B4-BE49-F238E27FC236}">
                <a16:creationId xmlns:a16="http://schemas.microsoft.com/office/drawing/2014/main" id="{51EA8D34-BBBA-48A9-9B83-130C3E8DC9D2}"/>
              </a:ext>
            </a:extLst>
          </p:cNvPr>
          <p:cNvSpPr>
            <a:spLocks noGrp="1"/>
          </p:cNvSpPr>
          <p:nvPr/>
        </p:nvSpPr>
        <p:spPr>
          <a:xfrm>
            <a:off x="550863" y="4236588"/>
            <a:ext cx="6330950" cy="84115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r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defRPr sz="32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Березин Егор, группа 4341 </a:t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7954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0D3C556-5A01-48DF-A23F-B504A3D9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en-US" dirty="0"/>
              <a:t>What is Assembler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B70F973-3FF0-443E-8D26-6B1885B517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96297" y="2591761"/>
            <a:ext cx="4694904" cy="1674478"/>
          </a:xfrm>
        </p:spPr>
        <p:txBody>
          <a:bodyPr>
            <a:normAutofit/>
          </a:bodyPr>
          <a:lstStyle/>
          <a:p>
            <a:pPr lvl="3"/>
            <a:r>
              <a:rPr lang="en-US" i="1" dirty="0">
                <a:solidFill>
                  <a:schemeClr val="accent1"/>
                </a:solidFill>
              </a:rPr>
              <a:t>Assembly language</a:t>
            </a:r>
            <a:r>
              <a:rPr lang="ru-RU" dirty="0"/>
              <a:t> </a:t>
            </a:r>
            <a:r>
              <a:rPr lang="en-US" dirty="0"/>
              <a:t>(or Assembler) is a low-level machine-oriented programming language with a very strong correspondence between the instructions in the language and the architecture's machine code instructions. </a:t>
            </a:r>
            <a:endParaRPr lang="ru-RU" dirty="0"/>
          </a:p>
        </p:txBody>
      </p:sp>
      <p:sp>
        <p:nvSpPr>
          <p:cNvPr id="3" name="Текст 5">
            <a:extLst>
              <a:ext uri="{FF2B5EF4-FFF2-40B4-BE49-F238E27FC236}">
                <a16:creationId xmlns:a16="http://schemas.microsoft.com/office/drawing/2014/main" id="{6C87A949-40EC-4A65-A1CD-ED6532408CAD}"/>
              </a:ext>
            </a:extLst>
          </p:cNvPr>
          <p:cNvSpPr>
            <a:spLocks noGrp="1"/>
          </p:cNvSpPr>
          <p:nvPr/>
        </p:nvSpPr>
        <p:spPr>
          <a:xfrm>
            <a:off x="7163251" y="5623187"/>
            <a:ext cx="4290811" cy="82683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SzPct val="120000"/>
              <a:buFont typeface="Wingdings" panose="05000000000000000000" pitchFamily="2" charset="2"/>
              <a:buNone/>
              <a:defRPr sz="14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1">
                  <a:lumMod val="50000"/>
                </a:schemeClr>
              </a:buClr>
              <a:buFont typeface="+mj-lt"/>
              <a:buNone/>
              <a:tabLst>
                <a:tab pos="269875" algn="l"/>
              </a:tabLst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pitchFamily="2" charset="2"/>
              <a:buNone/>
              <a:defRPr sz="1600" b="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85750" indent="-28575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1463" indent="-2714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2" algn="ctr"/>
            <a:r>
              <a:rPr lang="en-US" sz="1800" dirty="0"/>
              <a:t>Kathleen Booth</a:t>
            </a:r>
            <a:endParaRPr lang="ru-RU" sz="1800" dirty="0"/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4402011F-CB3A-0793-9D05-CAEEA12BC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69" r="17895"/>
          <a:stretch/>
        </p:blipFill>
        <p:spPr bwMode="auto">
          <a:xfrm>
            <a:off x="7769062" y="1501982"/>
            <a:ext cx="3326641" cy="3854035"/>
          </a:xfrm>
          <a:prstGeom prst="snip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227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B0D3C556-5A01-48DF-A23F-B504A3D9F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07976"/>
            <a:ext cx="9608330" cy="332399"/>
          </a:xfrm>
        </p:spPr>
        <p:txBody>
          <a:bodyPr/>
          <a:lstStyle/>
          <a:p>
            <a:r>
              <a:rPr lang="en-US" dirty="0"/>
              <a:t>Dialects of Assembly language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4727AF-56EA-44AD-9F23-4FA0368AE5BA}"/>
              </a:ext>
            </a:extLst>
          </p:cNvPr>
          <p:cNvSpPr/>
          <p:nvPr/>
        </p:nvSpPr>
        <p:spPr>
          <a:xfrm>
            <a:off x="4905057" y="1526985"/>
            <a:ext cx="2132237" cy="13417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Assembly language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95E16FD-CB0C-CBDF-734C-B79A8DB128B2}"/>
              </a:ext>
            </a:extLst>
          </p:cNvPr>
          <p:cNvSpPr/>
          <p:nvPr/>
        </p:nvSpPr>
        <p:spPr>
          <a:xfrm>
            <a:off x="752258" y="3921195"/>
            <a:ext cx="2132236" cy="1341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TASM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2C5F"/>
                </a:solidFill>
                <a:latin typeface="Arial" panose="020B0604020202020204"/>
              </a:rPr>
              <a:t>(Turbo Assembler)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6533B711-AEAD-477F-F931-82EE6D2798E9}"/>
              </a:ext>
            </a:extLst>
          </p:cNvPr>
          <p:cNvSpPr/>
          <p:nvPr/>
        </p:nvSpPr>
        <p:spPr>
          <a:xfrm>
            <a:off x="3416522" y="3921195"/>
            <a:ext cx="2132236" cy="1341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MASM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2C5F"/>
                </a:solidFill>
                <a:latin typeface="Arial" panose="020B0604020202020204"/>
              </a:rPr>
              <a:t>(Microsoft Macro Assembler)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CB441CC-1FC2-F927-FD07-ECC6D85C6799}"/>
              </a:ext>
            </a:extLst>
          </p:cNvPr>
          <p:cNvSpPr/>
          <p:nvPr/>
        </p:nvSpPr>
        <p:spPr>
          <a:xfrm>
            <a:off x="6320799" y="3921195"/>
            <a:ext cx="2132236" cy="1341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NASM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2C5F"/>
                </a:solidFill>
                <a:latin typeface="Arial" panose="020B0604020202020204"/>
              </a:rPr>
              <a:t>(Netwide Assembler)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4D3CFA5D-E3BF-C899-8A8B-1DB59068AF5D}"/>
              </a:ext>
            </a:extLst>
          </p:cNvPr>
          <p:cNvSpPr/>
          <p:nvPr/>
        </p:nvSpPr>
        <p:spPr>
          <a:xfrm>
            <a:off x="9008751" y="3921198"/>
            <a:ext cx="2132236" cy="13417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2C5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FASM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rgbClr val="002C5F"/>
                </a:solidFill>
                <a:latin typeface="Arial" panose="020B0604020202020204"/>
              </a:rPr>
              <a:t>(Flat Assembler)</a:t>
            </a: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srgbClr val="002C5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20B421BB-F976-C32C-5008-72C5C9124A22}"/>
              </a:ext>
            </a:extLst>
          </p:cNvPr>
          <p:cNvCxnSpPr>
            <a:stCxn id="4" idx="3"/>
            <a:endCxn id="13" idx="0"/>
          </p:cNvCxnSpPr>
          <p:nvPr/>
        </p:nvCxnSpPr>
        <p:spPr>
          <a:xfrm>
            <a:off x="7037294" y="2197846"/>
            <a:ext cx="3037575" cy="172335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Соединитель: уступ 17">
            <a:extLst>
              <a:ext uri="{FF2B5EF4-FFF2-40B4-BE49-F238E27FC236}">
                <a16:creationId xmlns:a16="http://schemas.microsoft.com/office/drawing/2014/main" id="{92C720E0-1C2D-0544-0627-491751B24C68}"/>
              </a:ext>
            </a:extLst>
          </p:cNvPr>
          <p:cNvCxnSpPr>
            <a:stCxn id="4" idx="1"/>
            <a:endCxn id="6" idx="0"/>
          </p:cNvCxnSpPr>
          <p:nvPr/>
        </p:nvCxnSpPr>
        <p:spPr>
          <a:xfrm rot="10800000" flipV="1">
            <a:off x="1818377" y="2197845"/>
            <a:ext cx="3086681" cy="17233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967F01A6-6C8B-8F2B-5518-5F26208F787D}"/>
              </a:ext>
            </a:extLst>
          </p:cNvPr>
          <p:cNvCxnSpPr>
            <a:cxnSpLocks/>
            <a:endCxn id="11" idx="0"/>
          </p:cNvCxnSpPr>
          <p:nvPr/>
        </p:nvCxnSpPr>
        <p:spPr>
          <a:xfrm rot="5400000">
            <a:off x="4348215" y="3003129"/>
            <a:ext cx="1052491" cy="7836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Соединитель: уступ 21">
            <a:extLst>
              <a:ext uri="{FF2B5EF4-FFF2-40B4-BE49-F238E27FC236}">
                <a16:creationId xmlns:a16="http://schemas.microsoft.com/office/drawing/2014/main" id="{45956C29-C10A-5AA7-9CE5-6844FA58B481}"/>
              </a:ext>
            </a:extLst>
          </p:cNvPr>
          <p:cNvCxnSpPr>
            <a:endCxn id="12" idx="0"/>
          </p:cNvCxnSpPr>
          <p:nvPr/>
        </p:nvCxnSpPr>
        <p:spPr>
          <a:xfrm rot="16200000" flipH="1">
            <a:off x="6476992" y="3011269"/>
            <a:ext cx="1052489" cy="76736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216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TASM (Turbo Assembler)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BD846A-DDFF-4243-2540-733A6509A4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2" y="2038308"/>
            <a:ext cx="5545137" cy="2781383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Developed for programs on x86 architecture.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  <a:p>
            <a:r>
              <a:rPr lang="en-US" dirty="0"/>
              <a:t> + Has low system requirements, friendly UI and high translation speed.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  <a:p>
            <a:r>
              <a:rPr lang="en-US" dirty="0"/>
              <a:t> – Became unpopular after Windows release.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287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MASM (Microsoft Macro Assembler)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5BBA58-13B7-13D1-A237-5AF9674BCA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174666"/>
            <a:ext cx="7475537" cy="2508667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Developed specifically for MS-DOS.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  <a:p>
            <a:r>
              <a:rPr lang="en-US" dirty="0"/>
              <a:t> + Has a macro language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/>
          </a:p>
          <a:p>
            <a:r>
              <a:rPr lang="en-US" dirty="0"/>
              <a:t> – Has a lot of bugs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80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NASM (Netwide Assembler)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67DF32-D448-6F8D-CD88-0D6334904B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190708"/>
            <a:ext cx="7475537" cy="2476583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The first fully free assembler</a:t>
            </a:r>
          </a:p>
          <a:p>
            <a:endParaRPr lang="en-US" dirty="0"/>
          </a:p>
          <a:p>
            <a:r>
              <a:rPr lang="en-US" dirty="0"/>
              <a:t> + Literally port lots of features from MASM to UNIX systems</a:t>
            </a:r>
          </a:p>
          <a:p>
            <a:endParaRPr lang="en-US" dirty="0"/>
          </a:p>
          <a:p>
            <a:r>
              <a:rPr lang="en-US" dirty="0"/>
              <a:t> – Also has a lot of bugs</a:t>
            </a:r>
          </a:p>
        </p:txBody>
      </p:sp>
    </p:spTree>
    <p:extLst>
      <p:ext uri="{BB962C8B-B14F-4D97-AF65-F5344CB8AC3E}">
        <p14:creationId xmlns:p14="http://schemas.microsoft.com/office/powerpoint/2010/main" val="117889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B590F643-562B-41E2-8E6D-A3A0F905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FASM (Flat Assembler)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03FA72-8CE7-981E-2AA3-D479B4EE31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0863" y="2206750"/>
            <a:ext cx="7475537" cy="244449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dirty="0"/>
              <a:t>Was developed by student and still maintained today</a:t>
            </a:r>
          </a:p>
          <a:p>
            <a:endParaRPr lang="en-US" dirty="0"/>
          </a:p>
          <a:p>
            <a:r>
              <a:rPr lang="en-US" dirty="0"/>
              <a:t> + Has very strong macro system</a:t>
            </a:r>
          </a:p>
          <a:p>
            <a:endParaRPr lang="en-US" dirty="0"/>
          </a:p>
          <a:p>
            <a:r>
              <a:rPr lang="en-US" dirty="0"/>
              <a:t>– Has hard original syntaxis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61721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1">
            <a:extLst>
              <a:ext uri="{FF2B5EF4-FFF2-40B4-BE49-F238E27FC236}">
                <a16:creationId xmlns:a16="http://schemas.microsoft.com/office/drawing/2014/main" id="{DE595F6B-C232-DA21-9D4C-97CB4C0C04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56363" y="3275013"/>
            <a:ext cx="5184775" cy="1998662"/>
          </a:xfrm>
        </p:spPr>
        <p:txBody>
          <a:bodyPr/>
          <a:lstStyle/>
          <a:p>
            <a:r>
              <a:rPr lang="en-US" dirty="0"/>
              <a:t>Thanks!</a:t>
            </a:r>
          </a:p>
          <a:p>
            <a:r>
              <a:rPr lang="en-US" dirty="0"/>
              <a:t>Does anyone have any questions?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27307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итульная страница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75426110-BF82-4921-B51E-81780A536C48}"/>
    </a:ext>
  </a:extLst>
</a:theme>
</file>

<file path=ppt/theme/theme3.xml><?xml version="1.0" encoding="utf-8"?>
<a:theme xmlns:a="http://schemas.openxmlformats.org/drawingml/2006/main" name="Текстовые блоки">
  <a:themeElements>
    <a:clrScheme name="Палитра ГУАП">
      <a:dk1>
        <a:srgbClr val="242834"/>
      </a:dk1>
      <a:lt1>
        <a:srgbClr val="FFFFFF"/>
      </a:lt1>
      <a:dk2>
        <a:srgbClr val="002C5F"/>
      </a:dk2>
      <a:lt2>
        <a:srgbClr val="FFFFFF"/>
      </a:lt2>
      <a:accent1>
        <a:srgbClr val="005AAA"/>
      </a:accent1>
      <a:accent2>
        <a:srgbClr val="E70F47"/>
      </a:accent2>
      <a:accent3>
        <a:srgbClr val="00BEF3"/>
      </a:accent3>
      <a:accent4>
        <a:srgbClr val="9269C9"/>
      </a:accent4>
      <a:accent5>
        <a:srgbClr val="FF6418"/>
      </a:accent5>
      <a:accent6>
        <a:srgbClr val="009A49"/>
      </a:accent6>
      <a:hlink>
        <a:srgbClr val="4E41CC"/>
      </a:hlink>
      <a:folHlink>
        <a:srgbClr val="D65D8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0">
              <a:schemeClr val="accent1">
                <a:tint val="66000"/>
                <a:satMod val="16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16200000" scaled="1"/>
          <a:tileRect/>
        </a:gradFill>
        <a:ln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000" dirty="0">
            <a:solidFill>
              <a:schemeClr val="tx2"/>
            </a:solidFill>
          </a:defRPr>
        </a:defPPr>
      </a:lstStyle>
      <a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ГУАП презентация курса.potx" id="{0DF838E0-DD05-488A-AC6B-E98ACB4C24AD}" vid="{8C20C85A-CFD0-4C40-80A0-6689F915CE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195</Words>
  <Application>Microsoft Office PowerPoint</Application>
  <PresentationFormat>Широкоэкранный</PresentationFormat>
  <Paragraphs>43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Тема Office</vt:lpstr>
      <vt:lpstr>Титульная страница</vt:lpstr>
      <vt:lpstr>Текстовые блоки</vt:lpstr>
      <vt:lpstr>Dialects of Assembly language</vt:lpstr>
      <vt:lpstr>What is Assembler</vt:lpstr>
      <vt:lpstr>Dialects of Assembly language</vt:lpstr>
      <vt:lpstr>TASM (Turbo Assembler)</vt:lpstr>
      <vt:lpstr>MASM (Microsoft Macro Assembler)</vt:lpstr>
      <vt:lpstr>NASM (Netwide Assembler)</vt:lpstr>
      <vt:lpstr>FASM (Flat Assembler)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Dialects of Assembly language</dc:title>
  <dc:creator>Shv31cAr hentI</dc:creator>
  <cp:lastModifiedBy>Shv31cAr hentI</cp:lastModifiedBy>
  <cp:revision>2</cp:revision>
  <dcterms:created xsi:type="dcterms:W3CDTF">2024-02-23T16:22:46Z</dcterms:created>
  <dcterms:modified xsi:type="dcterms:W3CDTF">2024-02-23T17:22:37Z</dcterms:modified>
</cp:coreProperties>
</file>