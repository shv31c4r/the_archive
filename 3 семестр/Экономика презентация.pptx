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7" r:id="rId3"/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=""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22814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10DD46-263B-42B0-A370-FACD745D1E62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3E1FAF-6013-4BF1-BD47-B7BB76418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57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0379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=""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5854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3426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11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7133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=""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=""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2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=""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9" name="Текст 5">
            <a:extLst>
              <a:ext uri="{FF2B5EF4-FFF2-40B4-BE49-F238E27FC236}">
                <a16:creationId xmlns=""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3519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63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7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115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600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976595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20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A26B8BC-9AE2-41D8-8A90-8D1C0A2A55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76565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40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44A2A7-9511-4B2D-A046-C71363808B05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43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69BA297-C05B-4A1B-BC54-4DA26B4C6721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414C9C7-3F3B-4FAE-B19C-B28F0A67B7F7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24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>
          <p15:clr>
            <a:srgbClr val="F26B43"/>
          </p15:clr>
        </p15:guide>
        <p15:guide id="6" pos="36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50863" y="2509678"/>
            <a:ext cx="8672267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СОВРЕМЕННЫЕ АВТОМАТИЗИРОВАННЫЕ ИНФОРМАЦИОННЫЕ СИСТЕМЫ В БАНКОВСКОМ ДЕЛЕ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/>
              <a:t>Егор Березин, гр. 4341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/>
          </p:nvPr>
        </p:nvSpPr>
        <p:spPr>
          <a:xfrm>
            <a:off x="9146127" y="6029119"/>
            <a:ext cx="3585133" cy="387798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065029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02591" cy="5040312"/>
          </a:xfrm>
        </p:spPr>
        <p:txBody>
          <a:bodyPr anchor="ctr"/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dirty="0"/>
              <a:t>Автоматизированные информационные системы (АИС) — это комплексные технологии для автоматизации бизнес-процессов, управления данными и повышения эффективности работы в организациях</a:t>
            </a:r>
            <a:r>
              <a:rPr lang="ru-RU" dirty="0" smtClean="0"/>
              <a:t>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028" y="1868294"/>
            <a:ext cx="6510343" cy="366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06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50863" y="407976"/>
            <a:ext cx="11125322" cy="332399"/>
          </a:xfrm>
        </p:spPr>
        <p:txBody>
          <a:bodyPr/>
          <a:lstStyle/>
          <a:p>
            <a:r>
              <a:rPr lang="ru-RU" dirty="0" smtClean="0"/>
              <a:t>Основные компоненты АИС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D84727AF-56EA-44AD-9F23-4FA0368AE5BA}"/>
              </a:ext>
            </a:extLst>
          </p:cNvPr>
          <p:cNvSpPr/>
          <p:nvPr/>
        </p:nvSpPr>
        <p:spPr>
          <a:xfrm>
            <a:off x="4920492" y="1449635"/>
            <a:ext cx="2386064" cy="1634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Автоматизированные</a:t>
            </a:r>
            <a:r>
              <a:rPr kumimoji="0" lang="ru-RU" sz="1600" b="0" i="0" u="none" strike="noStrike" kern="1200" cap="none" spc="0" normalizeH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информационные системы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6113524" y="3083760"/>
            <a:ext cx="0" cy="709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16200000" flipH="1">
            <a:off x="7375078" y="1822205"/>
            <a:ext cx="709260" cy="3232369"/>
          </a:xfrm>
          <a:prstGeom prst="bentConnector3">
            <a:avLst>
              <a:gd name="adj1" fmla="val 3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24117895-0731-41AF-BD9C-F841728C4B87}"/>
              </a:ext>
            </a:extLst>
          </p:cNvPr>
          <p:cNvSpPr/>
          <p:nvPr/>
        </p:nvSpPr>
        <p:spPr>
          <a:xfrm>
            <a:off x="1688123" y="3793022"/>
            <a:ext cx="2386064" cy="1634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Аппаратное обеспечение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="" xmlns:a16="http://schemas.microsoft.com/office/drawing/2014/main" id="{24117895-0731-41AF-BD9C-F841728C4B87}"/>
              </a:ext>
            </a:extLst>
          </p:cNvPr>
          <p:cNvSpPr/>
          <p:nvPr/>
        </p:nvSpPr>
        <p:spPr>
          <a:xfrm>
            <a:off x="8152861" y="3793020"/>
            <a:ext cx="2386064" cy="1634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Информационные ресурсы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="" xmlns:a16="http://schemas.microsoft.com/office/drawing/2014/main" id="{24117895-0731-41AF-BD9C-F841728C4B87}"/>
              </a:ext>
            </a:extLst>
          </p:cNvPr>
          <p:cNvSpPr/>
          <p:nvPr/>
        </p:nvSpPr>
        <p:spPr>
          <a:xfrm>
            <a:off x="4920492" y="3793021"/>
            <a:ext cx="2386064" cy="1634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Программное</a:t>
            </a:r>
            <a:r>
              <a:rPr kumimoji="0" lang="ru-RU" sz="1600" b="0" i="0" u="none" strike="noStrike" kern="1200" cap="none" spc="0" normalizeH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обеспечение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5400000">
            <a:off x="4142709" y="1822207"/>
            <a:ext cx="709262" cy="3232369"/>
          </a:xfrm>
          <a:prstGeom prst="bentConnector3">
            <a:avLst>
              <a:gd name="adj1" fmla="val 3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4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Классификация АИС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03DEA450-5BEE-41B7-B329-D27DB555A6D6}"/>
              </a:ext>
            </a:extLst>
          </p:cNvPr>
          <p:cNvSpPr/>
          <p:nvPr/>
        </p:nvSpPr>
        <p:spPr>
          <a:xfrm>
            <a:off x="1062610" y="1223378"/>
            <a:ext cx="5487660" cy="623008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ru-RU" dirty="0">
                <a:solidFill>
                  <a:srgbClr val="FFFFFF"/>
                </a:solidFill>
              </a:rPr>
              <a:t>Автоматизированные информационные системы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6F9BAD17-BA60-4353-A6A4-3763192B4E4D}"/>
              </a:ext>
            </a:extLst>
          </p:cNvPr>
          <p:cNvSpPr/>
          <p:nvPr/>
        </p:nvSpPr>
        <p:spPr>
          <a:xfrm>
            <a:off x="2196817" y="2015934"/>
            <a:ext cx="4353453" cy="62300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Операционные системы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6F9BAD17-BA60-4353-A6A4-3763192B4E4D}"/>
              </a:ext>
            </a:extLst>
          </p:cNvPr>
          <p:cNvSpPr/>
          <p:nvPr/>
        </p:nvSpPr>
        <p:spPr>
          <a:xfrm>
            <a:off x="2196817" y="3121945"/>
            <a:ext cx="4353453" cy="62300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Управленческие системы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="" xmlns:a16="http://schemas.microsoft.com/office/drawing/2014/main" id="{6F9BAD17-BA60-4353-A6A4-3763192B4E4D}"/>
              </a:ext>
            </a:extLst>
          </p:cNvPr>
          <p:cNvSpPr/>
          <p:nvPr/>
        </p:nvSpPr>
        <p:spPr>
          <a:xfrm>
            <a:off x="2196816" y="4227956"/>
            <a:ext cx="4353453" cy="62300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Аналитические системы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="" xmlns:a16="http://schemas.microsoft.com/office/drawing/2014/main" id="{6F9BAD17-BA60-4353-A6A4-3763192B4E4D}"/>
              </a:ext>
            </a:extLst>
          </p:cNvPr>
          <p:cNvSpPr/>
          <p:nvPr/>
        </p:nvSpPr>
        <p:spPr>
          <a:xfrm>
            <a:off x="2196816" y="5333967"/>
            <a:ext cx="4353453" cy="62300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Системы поддержания</a:t>
            </a:r>
            <a:r>
              <a:rPr kumimoji="0" lang="ru-RU" b="0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решений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91408" y="1846386"/>
            <a:ext cx="605409" cy="481052"/>
          </a:xfrm>
          <a:prstGeom prst="bentConnector3">
            <a:avLst>
              <a:gd name="adj1" fmla="val 20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1100581" y="2337212"/>
            <a:ext cx="1587063" cy="60540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47575" y="2890219"/>
            <a:ext cx="2693074" cy="6054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-5430" y="3443224"/>
            <a:ext cx="3799085" cy="6054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7001364" y="2015935"/>
            <a:ext cx="3157830" cy="6230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Выполнение ежедневных операций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7001364" y="3121944"/>
            <a:ext cx="3157830" cy="6230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Управление финансовыми процессами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7001364" y="4227956"/>
            <a:ext cx="3157830" cy="6230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Анализ данных и управление рисками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7001362" y="5333967"/>
            <a:ext cx="3157831" cy="6230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Помощь в принятии</a:t>
            </a:r>
            <a:r>
              <a:rPr kumimoji="0" lang="ru-RU" sz="1400" b="0" i="0" u="none" strike="noStrike" kern="1200" cap="none" spc="0" normalizeH="0" noProof="0" dirty="0" smtClean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решений на основе данных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10" idx="3"/>
            <a:endCxn id="33" idx="1"/>
          </p:cNvCxnSpPr>
          <p:nvPr/>
        </p:nvCxnSpPr>
        <p:spPr>
          <a:xfrm>
            <a:off x="6550270" y="2327438"/>
            <a:ext cx="451094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14" idx="3"/>
            <a:endCxn id="34" idx="1"/>
          </p:cNvCxnSpPr>
          <p:nvPr/>
        </p:nvCxnSpPr>
        <p:spPr>
          <a:xfrm flipV="1">
            <a:off x="6550270" y="3433448"/>
            <a:ext cx="451094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15" idx="3"/>
            <a:endCxn id="35" idx="1"/>
          </p:cNvCxnSpPr>
          <p:nvPr/>
        </p:nvCxnSpPr>
        <p:spPr>
          <a:xfrm>
            <a:off x="6550269" y="4539460"/>
            <a:ext cx="45109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="" xmlns:a16="http://schemas.microsoft.com/office/drawing/2014/main" id="{5FB4CBEB-F186-4CB3-8F10-B50683561E2E}"/>
              </a:ext>
            </a:extLst>
          </p:cNvPr>
          <p:cNvCxnSpPr>
            <a:cxnSpLocks/>
            <a:stCxn id="16" idx="3"/>
            <a:endCxn id="36" idx="1"/>
          </p:cNvCxnSpPr>
          <p:nvPr/>
        </p:nvCxnSpPr>
        <p:spPr>
          <a:xfrm>
            <a:off x="6550269" y="5645471"/>
            <a:ext cx="451093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37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АИС в банковском деле</a:t>
            </a:r>
            <a:endParaRPr lang="ru-RU" dirty="0"/>
          </a:p>
        </p:txBody>
      </p:sp>
      <p:sp>
        <p:nvSpPr>
          <p:cNvPr id="7" name="Объект 6"/>
          <p:cNvSpPr txBox="1">
            <a:spLocks/>
          </p:cNvSpPr>
          <p:nvPr/>
        </p:nvSpPr>
        <p:spPr>
          <a:xfrm>
            <a:off x="4974417" y="1341438"/>
            <a:ext cx="5184776" cy="45529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Объект 6"/>
          <p:cNvSpPr txBox="1">
            <a:spLocks/>
          </p:cNvSpPr>
          <p:nvPr/>
        </p:nvSpPr>
        <p:spPr>
          <a:xfrm>
            <a:off x="550863" y="1341438"/>
            <a:ext cx="5184776" cy="45529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Преимущества АИС для банков: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Ускорение процессов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Снижение ошибок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Безопасность и управление рисками</a:t>
            </a:r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Примеры систем</a:t>
            </a:r>
            <a:r>
              <a:rPr lang="en-US" b="1" dirty="0"/>
              <a:t>:</a:t>
            </a:r>
            <a:r>
              <a:rPr lang="en-US" dirty="0"/>
              <a:t> Core Banking Systems, Online Banking.</a:t>
            </a:r>
            <a:endParaRPr lang="ru-RU" dirty="0"/>
          </a:p>
          <a:p>
            <a:endParaRPr lang="ru-RU" dirty="0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659" y="2143248"/>
            <a:ext cx="4818842" cy="319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48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АИС на биржах</a:t>
            </a:r>
            <a:endParaRPr lang="ru-RU" dirty="0"/>
          </a:p>
        </p:txBody>
      </p:sp>
      <p:sp>
        <p:nvSpPr>
          <p:cNvPr id="11" name="Объект 6"/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Автоматизация торговых </a:t>
            </a:r>
            <a:endParaRPr lang="ru-RU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Алгоритмическая торговля</a:t>
            </a:r>
            <a:endParaRPr lang="ru-RU" dirty="0"/>
          </a:p>
        </p:txBody>
      </p:sp>
      <p:sp>
        <p:nvSpPr>
          <p:cNvPr id="12" name="Текст 7"/>
          <p:cNvSpPr txBox="1">
            <a:spLocks/>
          </p:cNvSpPr>
          <p:nvPr/>
        </p:nvSpPr>
        <p:spPr>
          <a:xfrm>
            <a:off x="550863" y="1341438"/>
            <a:ext cx="5184775" cy="635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Роль АИС в биржевой торговле:</a:t>
            </a:r>
            <a:endParaRPr lang="ru-RU" dirty="0"/>
          </a:p>
        </p:txBody>
      </p:sp>
      <p:sp>
        <p:nvSpPr>
          <p:cNvPr id="13" name="Объект 8"/>
          <p:cNvSpPr>
            <a:spLocks noGrp="1"/>
          </p:cNvSpPr>
          <p:nvPr>
            <p:ph sz="quarter" idx="4294967295"/>
          </p:nvPr>
        </p:nvSpPr>
        <p:spPr>
          <a:xfrm>
            <a:off x="6466194" y="1828800"/>
            <a:ext cx="5184776" cy="4552949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Высокая скорость выполнения </a:t>
            </a:r>
            <a:r>
              <a:rPr lang="ru-RU" dirty="0" smtClean="0"/>
              <a:t>ордеров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Минимизация </a:t>
            </a:r>
            <a:r>
              <a:rPr lang="ru-RU" dirty="0"/>
              <a:t>ошибок при </a:t>
            </a:r>
            <a:r>
              <a:rPr lang="ru-RU" dirty="0" smtClean="0"/>
              <a:t>расчетах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Эффективное </a:t>
            </a:r>
            <a:r>
              <a:rPr lang="ru-RU" dirty="0"/>
              <a:t>управление рисками</a:t>
            </a:r>
          </a:p>
        </p:txBody>
      </p:sp>
      <p:sp>
        <p:nvSpPr>
          <p:cNvPr id="14" name="Текст 9"/>
          <p:cNvSpPr txBox="1">
            <a:spLocks/>
          </p:cNvSpPr>
          <p:nvPr/>
        </p:nvSpPr>
        <p:spPr>
          <a:xfrm>
            <a:off x="6466194" y="1341438"/>
            <a:ext cx="5184775" cy="635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Преимущества: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1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50862" y="407976"/>
            <a:ext cx="11098945" cy="332399"/>
          </a:xfrm>
        </p:spPr>
        <p:txBody>
          <a:bodyPr/>
          <a:lstStyle/>
          <a:p>
            <a:r>
              <a:rPr lang="ru-RU" dirty="0" smtClean="0"/>
              <a:t>АИС в бюджетных организациях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9BAD17-BA60-4353-A6A4-3763192B4E4D}"/>
              </a:ext>
            </a:extLst>
          </p:cNvPr>
          <p:cNvSpPr/>
          <p:nvPr/>
        </p:nvSpPr>
        <p:spPr>
          <a:xfrm>
            <a:off x="4585223" y="2986834"/>
            <a:ext cx="3030222" cy="158516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ru-RU" sz="2000" dirty="0"/>
              <a:t>Основные задачи АИС в бюджетной </a:t>
            </a:r>
            <a:r>
              <a:rPr lang="ru-RU" sz="2000" dirty="0" smtClean="0"/>
              <a:t>сфере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4585223" y="1071020"/>
            <a:ext cx="3030222" cy="15851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ru-RU" sz="2000" dirty="0"/>
              <a:t>Автоматизация учета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908512" y="4642528"/>
            <a:ext cx="3030222" cy="15851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ru-RU" sz="2000" dirty="0"/>
              <a:t>Контроль бюджетных средств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0BCB2B9D-7677-4242-9455-11F6A7B64973}"/>
              </a:ext>
            </a:extLst>
          </p:cNvPr>
          <p:cNvSpPr/>
          <p:nvPr/>
        </p:nvSpPr>
        <p:spPr>
          <a:xfrm>
            <a:off x="8258881" y="4642528"/>
            <a:ext cx="3030222" cy="15851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ru-RU" sz="2000" dirty="0"/>
              <a:t>Автоматизация документооборота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="" xmlns:a16="http://schemas.microsoft.com/office/drawing/2014/main" id="{186FAC55-221F-4BCD-B81D-C534C14C8E63}"/>
              </a:ext>
            </a:extLst>
          </p:cNvPr>
          <p:cNvCxnSpPr>
            <a:cxnSpLocks/>
            <a:stCxn id="7" idx="2"/>
            <a:endCxn id="9" idx="3"/>
          </p:cNvCxnSpPr>
          <p:nvPr/>
        </p:nvCxnSpPr>
        <p:spPr>
          <a:xfrm rot="5400000">
            <a:off x="4587979" y="3922757"/>
            <a:ext cx="863110" cy="21616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="" xmlns:a16="http://schemas.microsoft.com/office/drawing/2014/main" id="{186FAC55-221F-4BCD-B81D-C534C14C8E63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6100334" y="2656188"/>
            <a:ext cx="0" cy="3306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="" xmlns:a16="http://schemas.microsoft.com/office/drawing/2014/main" id="{186FAC55-221F-4BCD-B81D-C534C14C8E63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16200000" flipH="1">
            <a:off x="6748052" y="3924283"/>
            <a:ext cx="863110" cy="215854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0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Безопасность данных и риски автоматизации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Хакерские атаки на финансовые </a:t>
            </a:r>
            <a:r>
              <a:rPr lang="ru-RU" dirty="0" smtClean="0"/>
              <a:t>данные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Риски </a:t>
            </a:r>
            <a:r>
              <a:rPr lang="ru-RU" dirty="0"/>
              <a:t>внутренних злоупотреблений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 smtClean="0"/>
              <a:t>Основные </a:t>
            </a:r>
            <a:r>
              <a:rPr lang="ru-RU" dirty="0" err="1" smtClean="0"/>
              <a:t>киберугрозы</a:t>
            </a:r>
            <a:r>
              <a:rPr lang="ru-RU" dirty="0" smtClean="0"/>
              <a:t> и риски: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5"/>
          </p:nvPr>
        </p:nvSpPr>
        <p:spPr>
          <a:xfrm>
            <a:off x="6466193" y="4105274"/>
            <a:ext cx="5184776" cy="455294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Шифрование данных </a:t>
            </a:r>
            <a:endParaRPr lang="ru-RU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Многофакторная аутентификация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Системы </a:t>
            </a:r>
            <a:r>
              <a:rPr lang="ru-RU" dirty="0"/>
              <a:t>предотвращения вторжений (IDS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6"/>
          </p:nvPr>
        </p:nvSpPr>
        <p:spPr>
          <a:xfrm>
            <a:off x="6466194" y="3583477"/>
            <a:ext cx="5184775" cy="635000"/>
          </a:xfrm>
        </p:spPr>
        <p:txBody>
          <a:bodyPr/>
          <a:lstStyle/>
          <a:p>
            <a:r>
              <a:rPr lang="ru-RU" dirty="0" smtClean="0"/>
              <a:t>Меры защиты: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98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4294967295"/>
          </p:nvPr>
        </p:nvSpPr>
        <p:spPr>
          <a:xfrm>
            <a:off x="550863" y="1341438"/>
            <a:ext cx="5445491" cy="1480893"/>
          </a:xfrm>
          <a:prstGeom prst="rect">
            <a:avLst/>
          </a:prstGeom>
        </p:spPr>
        <p:txBody>
          <a:bodyPr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АИС важны для повышения качества обслуживания, скорости операций и снижения рисков в финансовом секторе</a:t>
            </a:r>
            <a:r>
              <a:rPr lang="ru-RU" dirty="0" smtClean="0"/>
              <a:t>.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4294967295"/>
          </p:nvPr>
        </p:nvSpPr>
        <p:spPr>
          <a:xfrm>
            <a:off x="3273608" y="2969180"/>
            <a:ext cx="5445491" cy="1372454"/>
          </a:xfrm>
          <a:prstGeom prst="rect">
            <a:avLst/>
          </a:prstGeom>
        </p:spPr>
        <p:txBody>
          <a:bodyPr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Развитие </a:t>
            </a:r>
            <a:r>
              <a:rPr lang="ru-RU" dirty="0"/>
              <a:t>технологий, таких как искусственный интеллект, ведет к созданию интеллектуальных АИС для анализа и предотвращения рисков</a:t>
            </a:r>
            <a:r>
              <a:rPr lang="ru-RU" dirty="0" smtClean="0"/>
              <a:t>.</a:t>
            </a:r>
          </a:p>
        </p:txBody>
      </p:sp>
      <p:sp>
        <p:nvSpPr>
          <p:cNvPr id="12" name="Объект 4"/>
          <p:cNvSpPr>
            <a:spLocks noGrp="1"/>
          </p:cNvSpPr>
          <p:nvPr>
            <p:ph sz="quarter" idx="4294967295"/>
          </p:nvPr>
        </p:nvSpPr>
        <p:spPr>
          <a:xfrm>
            <a:off x="5996353" y="4488483"/>
            <a:ext cx="5445491" cy="1562941"/>
          </a:xfrm>
          <a:prstGeom prst="rect">
            <a:avLst/>
          </a:prstGeom>
        </p:spPr>
        <p:txBody>
          <a:bodyPr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 smtClean="0"/>
              <a:t>В </a:t>
            </a:r>
            <a:r>
              <a:rPr lang="ru-RU" dirty="0"/>
              <a:t>будущем ожидается еще большее внедрение автоматизированных систем для улучшения работы финансовых организаций.</a:t>
            </a:r>
          </a:p>
        </p:txBody>
      </p:sp>
    </p:spTree>
    <p:extLst>
      <p:ext uri="{BB962C8B-B14F-4D97-AF65-F5344CB8AC3E}">
        <p14:creationId xmlns:p14="http://schemas.microsoft.com/office/powerpoint/2010/main" val="238166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/>
          <p:cNvSpPr txBox="1">
            <a:spLocks/>
          </p:cNvSpPr>
          <p:nvPr/>
        </p:nvSpPr>
        <p:spPr>
          <a:xfrm>
            <a:off x="1" y="320053"/>
            <a:ext cx="12191999" cy="3323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 smtClean="0"/>
              <a:t>Вопросы и ответы</a:t>
            </a:r>
            <a:endParaRPr lang="ru-RU" dirty="0"/>
          </a:p>
        </p:txBody>
      </p:sp>
      <p:pic>
        <p:nvPicPr>
          <p:cNvPr id="1028" name="Picture 4" descr="Более 88 400 работ на тему «вопросы и ответы»: стоковые фото, картинки и  изображения royalty-free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046" y="1536996"/>
            <a:ext cx="4053908" cy="405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68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ГУАП (1)</Template>
  <TotalTime>104</TotalTime>
  <Words>238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Wingdings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СОВРЕМЕННЫЕ АВТОМАТИЗИРОВАННЫЕ ИНФОРМАЦИОННЫЕ СИСТЕМЫ В БАНКОВСКОМ ДЕЛЕ</vt:lpstr>
      <vt:lpstr>Введение</vt:lpstr>
      <vt:lpstr>Основные компоненты АИС</vt:lpstr>
      <vt:lpstr>Классификация АИС</vt:lpstr>
      <vt:lpstr>Применение АИС в банковском деле</vt:lpstr>
      <vt:lpstr>Применение АИС на биржах</vt:lpstr>
      <vt:lpstr>АИС в бюджетных организациях</vt:lpstr>
      <vt:lpstr>Безопасность данных и риски автоматизации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АВТОМАТИЗИРОВАННЫЕ ИНФОРМАЦИОННЫЕ СИСТЕМЫ В БАНКОВСКОМ ДЕЛЕ</dc:title>
  <dc:creator>Учетная запись Майкрософт</dc:creator>
  <cp:lastModifiedBy>Учетная запись Майкрософт</cp:lastModifiedBy>
  <cp:revision>11</cp:revision>
  <dcterms:created xsi:type="dcterms:W3CDTF">2024-11-08T11:37:33Z</dcterms:created>
  <dcterms:modified xsi:type="dcterms:W3CDTF">2024-11-23T18:33:43Z</dcterms:modified>
</cp:coreProperties>
</file>